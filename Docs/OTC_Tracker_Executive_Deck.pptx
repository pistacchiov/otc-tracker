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51215" y="0"/>
            <a:ext cx="3840480" cy="8229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BUSINESS CASE  ·  SENIOR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Eficiência Financeira e Independência no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Processamento de Derivativos OTC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C9D6F0"/>
                </a:solidFill>
                <a:latin typeface="Calibri"/>
              </a:rPr>
              <a:t>Implementação do OTC Tracker como alternativa de alto retorno frente a sistemas de terceiros.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3429000" cy="1600200"/>
          </a:xfrm>
          <a:prstGeom prst="roundRect">
            <a:avLst/>
          </a:prstGeom>
          <a:solidFill>
            <a:srgbClr val="28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82296" cy="1600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7216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Retorno sobre o Investimento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2336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2CFEC"/>
                </a:solidFill>
                <a:latin typeface="Calibri"/>
              </a:rPr>
              <a:t>Substituição de licenças externas por propriedade intelectual interna.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3520440"/>
            <a:ext cx="3429000" cy="1600200"/>
          </a:xfrm>
          <a:prstGeom prst="roundRect">
            <a:avLst/>
          </a:prstGeom>
          <a:solidFill>
            <a:srgbClr val="28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3520440"/>
            <a:ext cx="82296" cy="1600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7216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Gargalo Superado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2336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2CFEC"/>
                </a:solidFill>
                <a:latin typeface="Calibri"/>
              </a:rPr>
              <a:t>Eliminação da dependência de atualizações de fornecedores de prateleira.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3520440"/>
            <a:ext cx="3429000" cy="1600200"/>
          </a:xfrm>
          <a:prstGeom prst="roundRect">
            <a:avLst/>
          </a:prstGeom>
          <a:solidFill>
            <a:srgbClr val="283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3520440"/>
            <a:ext cx="82296" cy="1600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3721608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Objetivo Executivo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4233672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2CFEC"/>
                </a:solidFill>
                <a:latin typeface="Calibri"/>
              </a:rPr>
              <a:t>Reduzir o custo fixo operacional recorrente e acelerar o tempo de liquidação de balcão.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72591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Independência Tecnológica  =  Maior Margem Operacional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DESAFIO &amp;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 Custo e a Rigidez dos Sistemas de Terceiros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C2B6B"/>
                </a:solidFill>
                <a:latin typeface="Calibri"/>
              </a:rPr>
              <a:t>O Cenário Anterior  </a:t>
            </a:r>
            <a:r>
              <a:rPr sz="1250">
                <a:solidFill>
                  <a:srgbClr val="5A6372"/>
                </a:solidFill>
                <a:latin typeface="Calibri"/>
              </a:rPr>
              <a:t>Dependência de vendors como Inoa e Sinqia, com altos custos de customização e setup.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D13B3B"/>
                </a:solidFill>
                <a:latin typeface="Calibri"/>
              </a:rPr>
              <a:t>Risco de Negócio  </a:t>
            </a:r>
            <a:r>
              <a:rPr sz="1250">
                <a:solidFill>
                  <a:srgbClr val="5A6372"/>
                </a:solidFill>
                <a:latin typeface="Calibri"/>
              </a:rPr>
              <a:t>Processos engessados limitando a velocidade de lançamento de novas estruturas.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2B386"/>
                </a:solidFill>
                <a:latin typeface="Calibri"/>
              </a:rPr>
              <a:t>A Resposta Estratégica  </a:t>
            </a:r>
            <a:r>
              <a:rPr sz="1250">
                <a:solidFill>
                  <a:srgbClr val="5A6372"/>
                </a:solidFill>
                <a:latin typeface="Calibri"/>
              </a:rPr>
              <a:t>OTC Tracker sob medida — ágil, escalável e livre de taxas recorrentes.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257800" cy="201168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09728" cy="2011680"/>
          </a:xfrm>
          <a:prstGeom prst="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13B3B"/>
                </a:solidFill>
                <a:latin typeface="Calibri"/>
              </a:rPr>
              <a:t>Mercado Tradicional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5059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B2233"/>
                </a:solidFill>
                <a:latin typeface="Calibri"/>
              </a:rPr>
              <a:t>Engessado e Caro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035808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Licenças por volume, filas de customização e integração cobrada por módulo.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77639"/>
            <a:ext cx="5257800" cy="2011680"/>
          </a:xfrm>
          <a:prstGeom prst="roundRect">
            <a:avLst/>
          </a:prstGeom>
          <a:solidFill>
            <a:srgbClr val="E8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977639"/>
            <a:ext cx="109728" cy="201168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4206239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2B386"/>
                </a:solidFill>
                <a:latin typeface="Calibri"/>
              </a:rPr>
              <a:t>OTC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690871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B2233"/>
                </a:solidFill>
                <a:latin typeface="Calibri"/>
              </a:rPr>
              <a:t>Ágil e Sob Medida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276087"/>
            <a:ext cx="4709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Customização imediata, integração nativa ao negócio e custo marginal zero.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429000"/>
            <a:ext cx="822960" cy="822960"/>
          </a:xfrm>
          <a:prstGeom prst="ellipse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290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611112"/>
            <a:ext cx="7315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OTC Tracker  ·  Confidencial — Uso Interno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RETORNO FINANCEIRO  ·  C-LEVEL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TCO Comparativo: OTC Tracker vs. Fornecedores Externos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4709160" cy="13258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09728" cy="13258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66CC"/>
                </a:solidFill>
                <a:latin typeface="Calibri"/>
              </a:rPr>
              <a:t>Custo de Licenciamento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Eliminação de cobranças por volume de contratos e manutenção 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82112"/>
            <a:ext cx="4709160" cy="13258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82112"/>
            <a:ext cx="109728" cy="132588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2B386"/>
                </a:solidFill>
                <a:latin typeface="Calibri"/>
              </a:rPr>
              <a:t>Economia Projetada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Redução expressiva de TCO no ciclo de 3 a 5 anos.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72584"/>
            <a:ext cx="4709160" cy="13258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72584"/>
            <a:ext cx="109728" cy="132588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55464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B6B"/>
                </a:solidFill>
                <a:latin typeface="Calibri"/>
              </a:rPr>
              <a:t>Prazo de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30952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372"/>
                </a:solidFill>
                <a:latin typeface="Calibri"/>
              </a:rPr>
              <a:t>Recuperação do investimento em [X] meses.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691640"/>
            <a:ext cx="2148840" cy="68580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80" y="1691640"/>
            <a:ext cx="2148840" cy="685800"/>
          </a:xfrm>
          <a:prstGeom prst="rect">
            <a:avLst/>
          </a:prstGeom>
          <a:solidFill>
            <a:srgbClr val="8A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691640"/>
            <a:ext cx="1783080" cy="68580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1691640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Indicador de Custo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1691640"/>
            <a:ext cx="1965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Sistemas de Terceiros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691640"/>
            <a:ext cx="1691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Nosso OTC Tracker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377440"/>
            <a:ext cx="2148840" cy="9601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26680" y="2377440"/>
            <a:ext cx="2148840" cy="96012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2377440"/>
            <a:ext cx="1783080" cy="960120"/>
          </a:xfrm>
          <a:prstGeom prst="rect">
            <a:avLst/>
          </a:prstGeom>
          <a:solidFill>
            <a:srgbClr val="E8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237744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2B6B"/>
                </a:solidFill>
                <a:latin typeface="Calibri"/>
              </a:rPr>
              <a:t>Mensalidade / Licença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2377440"/>
            <a:ext cx="19476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2C2C"/>
                </a:solidFill>
                <a:latin typeface="Calibri"/>
              </a:rPr>
              <a:t>Alta (escala por volume de contratos)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377440"/>
            <a:ext cx="16184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7A59"/>
                </a:solidFill>
                <a:latin typeface="Calibri"/>
              </a:rPr>
              <a:t>Zero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337560"/>
            <a:ext cx="2148840" cy="9601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80" y="3337560"/>
            <a:ext cx="2148840" cy="960120"/>
          </a:xfrm>
          <a:prstGeom prst="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0" y="3337560"/>
            <a:ext cx="1783080" cy="960120"/>
          </a:xfrm>
          <a:prstGeom prst="rect">
            <a:avLst/>
          </a:prstGeom>
          <a:solidFill>
            <a:srgbClr val="DC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333756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2B6B"/>
                </a:solidFill>
                <a:latin typeface="Calibri"/>
              </a:rPr>
              <a:t>Customização de Telas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3337560"/>
            <a:ext cx="19476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2C2C"/>
                </a:solidFill>
                <a:latin typeface="Calibri"/>
              </a:rPr>
              <a:t>Paga (depende do cronograma deles)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337560"/>
            <a:ext cx="16184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7A59"/>
                </a:solidFill>
                <a:latin typeface="Calibri"/>
              </a:rPr>
              <a:t>Imediata e sem custo extra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4297680"/>
            <a:ext cx="2148840" cy="96012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26680" y="4297680"/>
            <a:ext cx="2148840" cy="96012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75520" y="4297680"/>
            <a:ext cx="1783080" cy="960120"/>
          </a:xfrm>
          <a:prstGeom prst="rect">
            <a:avLst/>
          </a:prstGeom>
          <a:solidFill>
            <a:srgbClr val="E8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4297680"/>
            <a:ext cx="19202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C2B6B"/>
                </a:solidFill>
                <a:latin typeface="Calibri"/>
              </a:rPr>
              <a:t>Custo de Integração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6408" y="4297680"/>
            <a:ext cx="19476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2C2C"/>
                </a:solidFill>
                <a:latin typeface="Calibri"/>
              </a:rPr>
              <a:t>Cobrado por módulos separados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297680"/>
            <a:ext cx="16184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7A59"/>
                </a:solidFill>
                <a:latin typeface="Calibri"/>
              </a:rPr>
              <a:t>Nativo do negócio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1691640"/>
            <a:ext cx="6080760" cy="3566160"/>
          </a:xfrm>
          <a:prstGeom prst="rect">
            <a:avLst/>
          </a:prstGeom>
          <a:noFill/>
          <a:ln w="12700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611112"/>
            <a:ext cx="7315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OTC Tracker  ·  Confidencial — Uso Interno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EFICIÊNCIA OPERACIONAL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Velocidade de Processamento e Redução de Riscos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128016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066CC"/>
                </a:solidFill>
                <a:latin typeface="Calibri"/>
              </a:rPr>
              <a:t>Tempo de Processamento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372"/>
                </a:solidFill>
                <a:latin typeface="Calibri"/>
              </a:rPr>
              <a:t>Conciliação automatizada reduzida de horas para [X] minutos.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486400" cy="128016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09728" cy="128016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290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2B386"/>
                </a:solidFill>
                <a:latin typeface="Calibri"/>
              </a:rPr>
              <a:t>Mitigação de Erros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0448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372"/>
                </a:solidFill>
                <a:latin typeface="Calibri"/>
              </a:rPr>
              <a:t>Redução do risco manual de planilhas e mensagens avulsas.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5486400" cy="128016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09728" cy="128016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C2B6B"/>
                </a:solidFill>
                <a:latin typeface="Calibri"/>
              </a:rPr>
              <a:t>Foco da Equipe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75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372"/>
                </a:solidFill>
                <a:latin typeface="Calibri"/>
              </a:rPr>
              <a:t>Liberação do time para análise de risco e novas captações.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83080"/>
            <a:ext cx="5257800" cy="4160520"/>
          </a:xfrm>
          <a:prstGeom prst="roundRect">
            <a:avLst/>
          </a:prstGeom>
          <a:solidFill>
            <a:srgbClr val="F7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B6B"/>
                </a:solidFill>
                <a:latin typeface="Calibri"/>
              </a:rPr>
              <a:t>Tempo de Fechamento  ·  Antes vs. Depois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88920"/>
            <a:ext cx="1371600" cy="2468880"/>
          </a:xfrm>
          <a:prstGeom prst="roundRect">
            <a:avLst/>
          </a:prstGeom>
          <a:solidFill>
            <a:srgbClr val="D1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13B3B"/>
                </a:solidFill>
                <a:latin typeface="Calibri"/>
              </a:rPr>
              <a:t>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5330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ANTES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4887468"/>
            <a:ext cx="1371600" cy="370332"/>
          </a:xfrm>
          <a:prstGeom prst="round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47598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B386"/>
                </a:solidFill>
                <a:latin typeface="Calibri"/>
              </a:rPr>
              <a:t>OTC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33095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DEPOIS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5257800"/>
            <a:ext cx="4343400" cy="25400"/>
          </a:xfrm>
          <a:prstGeom prst="rect">
            <a:avLst/>
          </a:prstGeom>
          <a:solidFill>
            <a:srgbClr val="C7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29800" y="2331720"/>
            <a:ext cx="1600200" cy="960120"/>
          </a:xfrm>
          <a:prstGeom prst="round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2377440"/>
            <a:ext cx="1600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-85%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2CFEC"/>
                </a:solidFill>
                <a:latin typeface="Calibri"/>
              </a:rPr>
              <a:t>no tempo de fechamento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611112"/>
            <a:ext cx="7315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OTC Tracker  ·  Confidencial — Uso Interno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DB8EA"/>
                </a:solidFill>
                <a:latin typeface="Calibri"/>
              </a:rPr>
              <a:t>ROADMAP &amp; ESCALABILIDADE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Próximos Marcos e Escalabilidade do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566160"/>
            <a:ext cx="10149840" cy="38100"/>
          </a:xfrm>
          <a:prstGeom prst="rect">
            <a:avLst/>
          </a:prstGeom>
          <a:solidFill>
            <a:srgbClr val="C7C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41448" y="3346704"/>
            <a:ext cx="512064" cy="512064"/>
          </a:xfrm>
          <a:prstGeom prst="ellipse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33467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1580" y="1417320"/>
            <a:ext cx="2971800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11580" y="1417320"/>
            <a:ext cx="2971800" cy="91440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2748" y="1618488"/>
            <a:ext cx="2569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B386"/>
                </a:solidFill>
                <a:latin typeface="Calibri"/>
              </a:rPr>
              <a:t>Fase 1 — Concluída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2748" y="2167128"/>
            <a:ext cx="2569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Estabilização do core do sistema e migração das primeiras carteiras.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4780" y="3108960"/>
            <a:ext cx="25400" cy="237744"/>
          </a:xfrm>
          <a:prstGeom prst="rect">
            <a:avLst/>
          </a:prstGeom>
          <a:solidFill>
            <a:srgbClr val="12B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4728" y="3346704"/>
            <a:ext cx="512064" cy="512064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33467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4860" y="4023360"/>
            <a:ext cx="2971800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94860" y="4023360"/>
            <a:ext cx="2971800" cy="91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6028" y="4224528"/>
            <a:ext cx="2569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066CC"/>
                </a:solidFill>
                <a:latin typeface="Calibri"/>
              </a:rPr>
              <a:t>Fase 2 — Próximo Trimestre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6028" y="4773168"/>
            <a:ext cx="2569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Integração direta com balcões de registro e relatórios regulatórios automatizados.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8060" y="3858768"/>
            <a:ext cx="25400" cy="16459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08008" y="3346704"/>
            <a:ext cx="512064" cy="512064"/>
          </a:xfrm>
          <a:prstGeom prst="ellipse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33467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8140" y="1417320"/>
            <a:ext cx="2971800" cy="16916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8140" y="1417320"/>
            <a:ext cx="2971800" cy="91440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9308" y="1618488"/>
            <a:ext cx="25694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B6B"/>
                </a:solidFill>
                <a:latin typeface="Calibri"/>
              </a:rPr>
              <a:t>Expansão do Negócio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9308" y="2167128"/>
            <a:ext cx="2569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372"/>
                </a:solidFill>
                <a:latin typeface="Calibri"/>
              </a:rPr>
              <a:t>Capacidade para o dobro do volume atual sem novos aportes de investimento.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51340" y="3108960"/>
            <a:ext cx="25400" cy="237744"/>
          </a:xfrm>
          <a:prstGeom prst="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806440"/>
            <a:ext cx="11091672" cy="566928"/>
          </a:xfrm>
          <a:prstGeom prst="roundRect">
            <a:avLst/>
          </a:prstGeom>
          <a:solidFill>
            <a:srgbClr val="1C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10916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Escalabilidade sem novos aportes  ·  Independência tecnológica  ·  Menor TCO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A6372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