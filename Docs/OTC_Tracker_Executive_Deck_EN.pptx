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51215" y="0"/>
            <a:ext cx="3840480" cy="8229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BUSINESS CASE  ·  SENIOR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Financial Efficiency and Independence in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OTC Derivatives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C9D6F0"/>
                </a:solidFill>
                <a:latin typeface="Calibri"/>
              </a:rPr>
              <a:t>Deploying the OTC Tracker as a high-return alternative to third-party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3429000" cy="1600200"/>
          </a:xfrm>
          <a:prstGeom prst="roundRect">
            <a:avLst/>
          </a:prstGeom>
          <a:solidFill>
            <a:srgbClr val="28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82296" cy="1600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7216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Return on 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2336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2CFEC"/>
                </a:solidFill>
                <a:latin typeface="Calibri"/>
              </a:rPr>
              <a:t>Replacing external licenses with internally owned intellectual property.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520440"/>
            <a:ext cx="3429000" cy="1600200"/>
          </a:xfrm>
          <a:prstGeom prst="roundRect">
            <a:avLst/>
          </a:prstGeom>
          <a:solidFill>
            <a:srgbClr val="28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3520440"/>
            <a:ext cx="82296" cy="1600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7216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Bottleneck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2336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2CFEC"/>
                </a:solidFill>
                <a:latin typeface="Calibri"/>
              </a:rPr>
              <a:t>Ending dependency on off-the-shelf vendor release cycles.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3520440"/>
            <a:ext cx="3429000" cy="1600200"/>
          </a:xfrm>
          <a:prstGeom prst="roundRect">
            <a:avLst/>
          </a:prstGeom>
          <a:solidFill>
            <a:srgbClr val="28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3520440"/>
            <a:ext cx="82296" cy="1600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37216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Executive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42336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2CFEC"/>
                </a:solidFill>
                <a:latin typeface="Calibri"/>
              </a:rPr>
              <a:t>Cut recurring fixed operating cost and accelerate OTC settlement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725912" cy="86868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7259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Technological Independence  =  Higher Operating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CHALLENGE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Cost and Rigidity of Third-Party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C2B6B"/>
                </a:solidFill>
                <a:latin typeface="Calibri"/>
              </a:rPr>
              <a:t>The Previous Scenario  </a:t>
            </a:r>
            <a:r>
              <a:rPr sz="1250">
                <a:solidFill>
                  <a:srgbClr val="5A6372"/>
                </a:solidFill>
                <a:latin typeface="Calibri"/>
              </a:rPr>
              <a:t>Reliance on vendors such as Inoa and Sinqia, with high customization and setup costs.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D13B3B"/>
                </a:solidFill>
                <a:latin typeface="Calibri"/>
              </a:rPr>
              <a:t>Business Risk  </a:t>
            </a:r>
            <a:r>
              <a:rPr sz="1250">
                <a:solidFill>
                  <a:srgbClr val="5A6372"/>
                </a:solidFill>
                <a:latin typeface="Calibri"/>
              </a:rPr>
              <a:t>Rigid processes limiting the speed of launching new structures.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2B386"/>
                </a:solidFill>
                <a:latin typeface="Calibri"/>
              </a:rPr>
              <a:t>The Strategic Response  </a:t>
            </a:r>
            <a:r>
              <a:rPr sz="1250">
                <a:solidFill>
                  <a:srgbClr val="5A6372"/>
                </a:solidFill>
                <a:latin typeface="Calibri"/>
              </a:rPr>
              <a:t>A tailor-made OTC Tracker — agile, scalable and free of recurring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257800" cy="201168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09728" cy="2011680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13B3B"/>
                </a:solidFill>
                <a:latin typeface="Calibri"/>
              </a:rPr>
              <a:t>Traditional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5059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B2233"/>
                </a:solidFill>
                <a:latin typeface="Calibri"/>
              </a:rPr>
              <a:t>Rigid and Expensive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035808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Volume-based licenses, customization queues and integration billed per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77639"/>
            <a:ext cx="5257800" cy="2011680"/>
          </a:xfrm>
          <a:prstGeom prst="roundRect">
            <a:avLst/>
          </a:prstGeom>
          <a:solidFill>
            <a:srgbClr val="E8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977639"/>
            <a:ext cx="109728" cy="201168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206239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2B386"/>
                </a:solidFill>
                <a:latin typeface="Calibri"/>
              </a:rPr>
              <a:t>OTC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690871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B2233"/>
                </a:solidFill>
                <a:latin typeface="Calibri"/>
              </a:rPr>
              <a:t>Agile and Tailor-Made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276087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Immediate customization, native business integration and zero marginal cost.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429000"/>
            <a:ext cx="822960" cy="822960"/>
          </a:xfrm>
          <a:prstGeom prst="ellipse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290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611112"/>
            <a:ext cx="7315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OTC Tracker  ·  Confidential — Internal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FINANCIAL RETURN  ·  C-LEVEL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TCO Comparison: OTC Tracker vs. External Vendors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4709160" cy="13258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09728" cy="13258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Licensing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Elimination of per-volume charges and annual maintenance fees.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82112"/>
            <a:ext cx="4709160" cy="13258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82112"/>
            <a:ext cx="109728" cy="132588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2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B386"/>
                </a:solidFill>
                <a:latin typeface="Calibri"/>
              </a:rPr>
              <a:t>Projected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Significant TCO reduction over a 3-to-5-year cycle.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72584"/>
            <a:ext cx="4709160" cy="13258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72584"/>
            <a:ext cx="109728" cy="132588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55464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B6B"/>
                </a:solidFill>
                <a:latin typeface="Calibri"/>
              </a:rPr>
              <a:t>Payback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309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Investment recovered in [X] months.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691640"/>
            <a:ext cx="2148840" cy="68580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80" y="1691640"/>
            <a:ext cx="2148840" cy="685800"/>
          </a:xfrm>
          <a:prstGeom prst="rect">
            <a:avLst/>
          </a:prstGeom>
          <a:solidFill>
            <a:srgbClr val="8A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1691640"/>
            <a:ext cx="1783080" cy="68580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1691640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Cost Indicator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691640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Third-Party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691640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Our OTC Tracker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377440"/>
            <a:ext cx="2148840" cy="96012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26680" y="2377440"/>
            <a:ext cx="2148840" cy="96012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2377440"/>
            <a:ext cx="1783080" cy="960120"/>
          </a:xfrm>
          <a:prstGeom prst="rect">
            <a:avLst/>
          </a:prstGeom>
          <a:solidFill>
            <a:srgbClr val="E8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237744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2B6B"/>
                </a:solidFill>
                <a:latin typeface="Calibri"/>
              </a:rPr>
              <a:t>Monthly Fee / 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2377440"/>
            <a:ext cx="19476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2C2C"/>
                </a:solidFill>
                <a:latin typeface="Calibri"/>
              </a:rPr>
              <a:t>High (scales with contract volume)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377440"/>
            <a:ext cx="16184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7A59"/>
                </a:solidFill>
                <a:latin typeface="Calibri"/>
              </a:rPr>
              <a:t>Zero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337560"/>
            <a:ext cx="2148840" cy="96012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80" y="3337560"/>
            <a:ext cx="2148840" cy="960120"/>
          </a:xfrm>
          <a:prstGeom prst="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3337560"/>
            <a:ext cx="1783080" cy="960120"/>
          </a:xfrm>
          <a:prstGeom prst="rect">
            <a:avLst/>
          </a:prstGeom>
          <a:solidFill>
            <a:srgbClr val="DC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333756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2B6B"/>
                </a:solidFill>
                <a:latin typeface="Calibri"/>
              </a:rPr>
              <a:t>Screen Customization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3337560"/>
            <a:ext cx="19476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2C2C"/>
                </a:solidFill>
                <a:latin typeface="Calibri"/>
              </a:rPr>
              <a:t>Paid (depends on their schedule)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337560"/>
            <a:ext cx="16184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7A59"/>
                </a:solidFill>
                <a:latin typeface="Calibri"/>
              </a:rPr>
              <a:t>Immediate, at no extra cost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4297680"/>
            <a:ext cx="2148840" cy="96012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6680" y="4297680"/>
            <a:ext cx="2148840" cy="96012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4297680"/>
            <a:ext cx="1783080" cy="960120"/>
          </a:xfrm>
          <a:prstGeom prst="rect">
            <a:avLst/>
          </a:prstGeom>
          <a:solidFill>
            <a:srgbClr val="E8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429768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2B6B"/>
                </a:solidFill>
                <a:latin typeface="Calibri"/>
              </a:rPr>
              <a:t>Integration Cost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6408" y="4297680"/>
            <a:ext cx="19476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2C2C"/>
                </a:solidFill>
                <a:latin typeface="Calibri"/>
              </a:rPr>
              <a:t>Charged per separate module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297680"/>
            <a:ext cx="16184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7A59"/>
                </a:solidFill>
                <a:latin typeface="Calibri"/>
              </a:rPr>
              <a:t>Native to the business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1691640"/>
            <a:ext cx="6080760" cy="3566160"/>
          </a:xfrm>
          <a:prstGeom prst="rect">
            <a:avLst/>
          </a:prstGeom>
          <a:noFill/>
          <a:ln w="12700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611112"/>
            <a:ext cx="7315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OTC Tracker  ·  Confidential — Internal Use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OPERATIONAL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Processing Speed and Risk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128016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09728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066CC"/>
                </a:solidFill>
                <a:latin typeface="Calibri"/>
              </a:rPr>
              <a:t>Processing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372"/>
                </a:solidFill>
                <a:latin typeface="Calibri"/>
              </a:rPr>
              <a:t>Automated reconciliation cut from hours to [X]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486400" cy="128016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09728" cy="128016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2B386"/>
                </a:solidFill>
                <a:latin typeface="Calibri"/>
              </a:rPr>
              <a:t>Error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0448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372"/>
                </a:solidFill>
                <a:latin typeface="Calibri"/>
              </a:rPr>
              <a:t>Reduced manual risk from spreadsheets and ad-hoc messages.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5486400" cy="128016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09728" cy="128016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C2B6B"/>
                </a:solidFill>
                <a:latin typeface="Calibri"/>
              </a:rPr>
              <a:t>Team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75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372"/>
                </a:solidFill>
                <a:latin typeface="Calibri"/>
              </a:rPr>
              <a:t>Freeing the team for risk analysis and new fundraising.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83080"/>
            <a:ext cx="5257800" cy="4160520"/>
          </a:xfrm>
          <a:prstGeom prst="round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B6B"/>
                </a:solidFill>
                <a:latin typeface="Calibri"/>
              </a:rPr>
              <a:t>Closing Time  ·  Before vs. 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88920"/>
            <a:ext cx="1371600" cy="2468880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13B3B"/>
                </a:solidFill>
                <a:latin typeface="Calibri"/>
              </a:rPr>
              <a:t>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5330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BEFORE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4887468"/>
            <a:ext cx="1371600" cy="370332"/>
          </a:xfrm>
          <a:prstGeom prst="round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47598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B386"/>
                </a:solidFill>
                <a:latin typeface="Calibri"/>
              </a:rPr>
              <a:t>OTC 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330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AFTER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5257800"/>
            <a:ext cx="4343400" cy="25400"/>
          </a:xfrm>
          <a:prstGeom prst="rect">
            <a:avLst/>
          </a:prstGeom>
          <a:solidFill>
            <a:srgbClr val="C7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29800" y="2331720"/>
            <a:ext cx="1600200" cy="960120"/>
          </a:xfrm>
          <a:prstGeom prst="round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2377440"/>
            <a:ext cx="1600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-85%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2CFEC"/>
                </a:solidFill>
                <a:latin typeface="Calibri"/>
              </a:rPr>
              <a:t>in closing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611112"/>
            <a:ext cx="7315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OTC Tracker  ·  Confidential — Internal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ROADMAP &amp;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Next Milestones and System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566160"/>
            <a:ext cx="10149840" cy="38100"/>
          </a:xfrm>
          <a:prstGeom prst="rect">
            <a:avLst/>
          </a:prstGeom>
          <a:solidFill>
            <a:srgbClr val="C7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41448" y="3346704"/>
            <a:ext cx="512064" cy="512064"/>
          </a:xfrm>
          <a:prstGeom prst="ellipse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33467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1580" y="1417320"/>
            <a:ext cx="2971800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1580" y="1417320"/>
            <a:ext cx="2971800" cy="9144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2748" y="1618488"/>
            <a:ext cx="2569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B386"/>
                </a:solidFill>
                <a:latin typeface="Calibri"/>
              </a:rPr>
              <a:t>Phase 1 —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2748" y="2167128"/>
            <a:ext cx="2569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Stabilization of the system core and migration of the first portfolios.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4780" y="3108960"/>
            <a:ext cx="25400" cy="237744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4728" y="3346704"/>
            <a:ext cx="512064" cy="512064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33467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4860" y="4023360"/>
            <a:ext cx="2971800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94860" y="4023360"/>
            <a:ext cx="2971800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6028" y="4224528"/>
            <a:ext cx="2569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66CC"/>
                </a:solidFill>
                <a:latin typeface="Calibri"/>
              </a:rPr>
              <a:t>Phase 2 — Next Quarter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6028" y="4773168"/>
            <a:ext cx="2569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Direct integration with registration venues and automated regulatory reporting.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8060" y="3858768"/>
            <a:ext cx="25400" cy="16459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08008" y="3346704"/>
            <a:ext cx="512064" cy="512064"/>
          </a:xfrm>
          <a:prstGeom prst="ellipse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33467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8140" y="1417320"/>
            <a:ext cx="2971800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8140" y="1417320"/>
            <a:ext cx="2971800" cy="91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9308" y="1618488"/>
            <a:ext cx="2569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B6B"/>
                </a:solidFill>
                <a:latin typeface="Calibri"/>
              </a:rPr>
              <a:t>Business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9308" y="2167128"/>
            <a:ext cx="2569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Capacity for double the current volume with no new investment.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51340" y="3108960"/>
            <a:ext cx="25400" cy="237744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806440"/>
            <a:ext cx="11091672" cy="566928"/>
          </a:xfrm>
          <a:prstGeom prst="round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1091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Scalability with no new investment  ·  Technological independence  ·  Lower TCO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