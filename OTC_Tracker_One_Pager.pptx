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98448"/>
          </a:xfrm>
          <a:prstGeom prst="rect">
            <a:avLst/>
          </a:prstGeom>
          <a:gradFill rotWithShape="1">
            <a:gsLst>
              <a:gs pos="0">
                <a:srgbClr val="0066CC"/>
              </a:gs>
              <a:gs pos="500">
                <a:srgbClr val="5E5CE6"/>
              </a:gs>
              <a:gs pos="800">
                <a:srgbClr val="8B5CF6"/>
              </a:gs>
              <a:gs pos="1000">
                <a:srgbClr val="D946EF"/>
              </a:gs>
            </a:gsLst>
            <a:lin ang="60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19456"/>
            <a:ext cx="7863840" cy="86868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Segoe UI"/>
              </a:rPr>
              <a:t>OTC Tracker</a:t>
            </a:r>
          </a:p>
          <a:p>
            <a:pPr algn="l">
              <a:lnSpc>
                <a:spcPct val="100000"/>
              </a:lnSpc>
              <a:spcBef>
                <a:spcPts val="300"/>
              </a:spcBef>
            </a:pPr>
            <a:r>
              <a:rPr sz="1400" b="0">
                <a:solidFill>
                  <a:srgbClr val="E4ECFF"/>
                </a:solidFill>
                <a:latin typeface="Segoe UI"/>
              </a:rPr>
              <a:t>One platform for the full OTC derivatives lifecycle — Brazil OTC Operations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29400" y="512064"/>
            <a:ext cx="4983480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>
                <a:solidFill>
                  <a:srgbClr val="EBF1FF"/>
                </a:solidFill>
                <a:latin typeface="Segoe UI"/>
              </a:rPr>
              <a:t>Trade capture  ›  B3 / CETIP registration  ›  Client confirmation  ›  Settlement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481328"/>
            <a:ext cx="2724912" cy="3200400"/>
          </a:xfrm>
          <a:prstGeom prst="roundRect">
            <a:avLst>
              <a:gd name="adj" fmla="val 5704"/>
            </a:avLst>
          </a:prstGeom>
          <a:solidFill>
            <a:srgbClr val="FFFFFF"/>
          </a:solidFill>
          <a:ln w="9525">
            <a:solidFill>
              <a:srgbClr val="E3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68096" y="1737360"/>
            <a:ext cx="475488" cy="68580"/>
          </a:xfrm>
          <a:prstGeom prst="roundRect">
            <a:avLst>
              <a:gd name="adj" fmla="val 49333"/>
            </a:avLst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920240"/>
            <a:ext cx="2322576" cy="566928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1">
                <a:solidFill>
                  <a:srgbClr val="0E112A"/>
                </a:solidFill>
                <a:latin typeface="Segoe UI"/>
              </a:rPr>
              <a:t>One solution, end to 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395728"/>
            <a:ext cx="2322576" cy="7772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000" b="0">
                <a:solidFill>
                  <a:srgbClr val="545A72"/>
                </a:solidFill>
                <a:latin typeface="Segoe UI"/>
              </a:rPr>
              <a:t>Registration, confirmation, settlement and regulatory reporting live in the same place — every user reads and writes the same data.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" y="3268980"/>
            <a:ext cx="56692" cy="56692"/>
          </a:xfrm>
          <a:prstGeom prst="roundRect">
            <a:avLst>
              <a:gd name="adj" fmla="val 50000"/>
            </a:avLst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3186684"/>
            <a:ext cx="2157984" cy="658368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0E112A"/>
                </a:solidFill>
                <a:latin typeface="Segoe UI"/>
              </a:rPr>
              <a:t>100+ screens covering NDF, FX and commodity options, swaps, unwinds and intragroup legs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6384" y="3726180"/>
            <a:ext cx="56692" cy="56692"/>
          </a:xfrm>
          <a:prstGeom prst="roundRect">
            <a:avLst>
              <a:gd name="adj" fmla="val 50000"/>
            </a:avLst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" y="3643884"/>
            <a:ext cx="2157984" cy="658368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0E112A"/>
                </a:solidFill>
                <a:latin typeface="Segoe UI"/>
              </a:rPr>
              <a:t>The step that follows always knows what the previous one did — no re-keying between tools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6384" y="4183380"/>
            <a:ext cx="56692" cy="56692"/>
          </a:xfrm>
          <a:prstGeom prst="roundRect">
            <a:avLst>
              <a:gd name="adj" fmla="val 50000"/>
            </a:avLst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" y="4101084"/>
            <a:ext cx="2157984" cy="658368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0E112A"/>
                </a:solidFill>
                <a:latin typeface="Segoe UI"/>
              </a:rPr>
              <a:t>No side spreadsheet as the source of truth — nothing left to reconcile between tools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11296" y="1481328"/>
            <a:ext cx="2724912" cy="3200400"/>
          </a:xfrm>
          <a:prstGeom prst="roundRect">
            <a:avLst>
              <a:gd name="adj" fmla="val 5704"/>
            </a:avLst>
          </a:prstGeom>
          <a:solidFill>
            <a:srgbClr val="FFFFFF"/>
          </a:solidFill>
          <a:ln w="9525">
            <a:solidFill>
              <a:srgbClr val="E3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712463" y="1737360"/>
            <a:ext cx="475488" cy="68580"/>
          </a:xfrm>
          <a:prstGeom prst="roundRect">
            <a:avLst>
              <a:gd name="adj" fmla="val 49333"/>
            </a:avLst>
          </a:prstGeom>
          <a:solidFill>
            <a:srgbClr val="5E5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12463" y="1920240"/>
            <a:ext cx="2322576" cy="566928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1">
                <a:solidFill>
                  <a:srgbClr val="0E112A"/>
                </a:solidFill>
                <a:latin typeface="Segoe UI"/>
              </a:rPr>
              <a:t>The routine runs itself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12463" y="2395728"/>
            <a:ext cx="2322576" cy="7772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000" b="0">
                <a:solidFill>
                  <a:srgbClr val="545A72"/>
                </a:solidFill>
                <a:latin typeface="Segoe UI"/>
              </a:rPr>
              <a:t>What used to be typed, copied or remembered is now imported, generated or scheduled — people are left with the decisions.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730752" y="3268980"/>
            <a:ext cx="56692" cy="56692"/>
          </a:xfrm>
          <a:prstGeom prst="roundRect">
            <a:avLst>
              <a:gd name="adj" fmla="val 50000"/>
            </a:avLst>
          </a:prstGeom>
          <a:solidFill>
            <a:srgbClr val="5E5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77056" y="3186684"/>
            <a:ext cx="2157984" cy="658368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0E112A"/>
                </a:solidFill>
                <a:latin typeface="Segoe UI"/>
              </a:rPr>
              <a:t>Trades pulled from Athena automatically — NDF every 20 minutes, FX options hourly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30752" y="3726180"/>
            <a:ext cx="56692" cy="56692"/>
          </a:xfrm>
          <a:prstGeom prst="roundRect">
            <a:avLst>
              <a:gd name="adj" fmla="val 50000"/>
            </a:avLst>
          </a:prstGeom>
          <a:solidFill>
            <a:srgbClr val="5E5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77056" y="3643884"/>
            <a:ext cx="2157984" cy="658368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0E112A"/>
                </a:solidFill>
                <a:latin typeface="Segoe UI"/>
              </a:rPr>
              <a:t>Client confirmations, settlement advices and B3 / CETIP files produced by the solution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730752" y="4183380"/>
            <a:ext cx="56692" cy="56692"/>
          </a:xfrm>
          <a:prstGeom prst="roundRect">
            <a:avLst>
              <a:gd name="adj" fmla="val 50000"/>
            </a:avLst>
          </a:prstGeom>
          <a:solidFill>
            <a:srgbClr val="5E5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77056" y="4101084"/>
            <a:ext cx="2157984" cy="658368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0E112A"/>
                </a:solidFill>
                <a:latin typeface="Segoe UI"/>
              </a:rPr>
              <a:t>Daily routines e-mail each user exactly what is still open, without anyone asking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55664" y="1481328"/>
            <a:ext cx="2724912" cy="3200400"/>
          </a:xfrm>
          <a:prstGeom prst="roundRect">
            <a:avLst>
              <a:gd name="adj" fmla="val 5704"/>
            </a:avLst>
          </a:prstGeom>
          <a:solidFill>
            <a:srgbClr val="FFFFFF"/>
          </a:solidFill>
          <a:ln w="9525">
            <a:solidFill>
              <a:srgbClr val="E3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656831" y="1737360"/>
            <a:ext cx="475488" cy="68580"/>
          </a:xfrm>
          <a:prstGeom prst="roundRect">
            <a:avLst>
              <a:gd name="adj" fmla="val 49333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56831" y="1920240"/>
            <a:ext cx="2322576" cy="566928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1">
                <a:solidFill>
                  <a:srgbClr val="0E112A"/>
                </a:solidFill>
                <a:latin typeface="Segoe UI"/>
              </a:rPr>
              <a:t>Controls built into the flow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56831" y="2395728"/>
            <a:ext cx="2322576" cy="7772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000" b="0">
                <a:solidFill>
                  <a:srgbClr val="545A72"/>
                </a:solidFill>
                <a:latin typeface="Segoe UI"/>
              </a:rPr>
              <a:t>The check is part of the screen, not a separate review — so nothing depends on someone remembering to do it.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75120" y="3268980"/>
            <a:ext cx="56692" cy="56692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21424" y="3186684"/>
            <a:ext cx="2157984" cy="658368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0E112A"/>
                </a:solidFill>
                <a:latin typeface="Segoe UI"/>
              </a:rPr>
              <a:t>Confirmation trail OTC › MO / FO, with each stage signed only by its own users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675120" y="3726180"/>
            <a:ext cx="56692" cy="56692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21424" y="3643884"/>
            <a:ext cx="2157984" cy="658368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0E112A"/>
                </a:solidFill>
                <a:latin typeface="Segoe UI"/>
              </a:rPr>
              <a:t>Deadlines in business days; signing off late requires a written justification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675120" y="4183380"/>
            <a:ext cx="56692" cy="56692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21424" y="4101084"/>
            <a:ext cx="2157984" cy="658368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0E112A"/>
                </a:solidFill>
                <a:latin typeface="Segoe UI"/>
              </a:rPr>
              <a:t>Every action stamped with date, time and employee ID, plus maker / checker on the data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400032" y="1481328"/>
            <a:ext cx="2724912" cy="3200400"/>
          </a:xfrm>
          <a:prstGeom prst="roundRect">
            <a:avLst>
              <a:gd name="adj" fmla="val 5704"/>
            </a:avLst>
          </a:prstGeom>
          <a:solidFill>
            <a:srgbClr val="FFFFFF"/>
          </a:solidFill>
          <a:ln w="9525">
            <a:solidFill>
              <a:srgbClr val="E3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9601200" y="1737360"/>
            <a:ext cx="475488" cy="68580"/>
          </a:xfrm>
          <a:prstGeom prst="roundRect">
            <a:avLst>
              <a:gd name="adj" fmla="val 49333"/>
            </a:avLst>
          </a:prstGeom>
          <a:solidFill>
            <a:srgbClr val="D94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01200" y="1920240"/>
            <a:ext cx="2322576" cy="566928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1">
                <a:solidFill>
                  <a:srgbClr val="0E112A"/>
                </a:solidFill>
                <a:latin typeface="Segoe UI"/>
              </a:rPr>
              <a:t>Changes without a release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01200" y="2395728"/>
            <a:ext cx="2322576" cy="7772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000" b="0">
                <a:solidFill>
                  <a:srgbClr val="545A72"/>
                </a:solidFill>
                <a:latin typeface="Segoe UI"/>
              </a:rPr>
              <a:t>The rules the users own are edited on screen and take effect on the next click — no code change, no deployment window.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619488" y="3268980"/>
            <a:ext cx="56692" cy="56692"/>
          </a:xfrm>
          <a:prstGeom prst="roundRect">
            <a:avLst>
              <a:gd name="adj" fmla="val 50000"/>
            </a:avLst>
          </a:prstGeom>
          <a:solidFill>
            <a:srgbClr val="D94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765792" y="3186684"/>
            <a:ext cx="2157984" cy="658368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0E112A"/>
                </a:solidFill>
                <a:latin typeface="Segoe UI"/>
              </a:rPr>
              <a:t>25 on-screen registries hold the mappings that used to be hard-coded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619488" y="3726180"/>
            <a:ext cx="56692" cy="56692"/>
          </a:xfrm>
          <a:prstGeom prst="roundRect">
            <a:avLst>
              <a:gd name="adj" fmla="val 50000"/>
            </a:avLst>
          </a:prstGeom>
          <a:solidFill>
            <a:srgbClr val="D94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765792" y="3643884"/>
            <a:ext cx="2157984" cy="658368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0E112A"/>
                </a:solidFill>
                <a:latin typeface="Segoe UI"/>
              </a:rPr>
              <a:t>Access granted page by page — and routine by routine inside the Control Panel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619488" y="4183380"/>
            <a:ext cx="56692" cy="56692"/>
          </a:xfrm>
          <a:prstGeom prst="roundRect">
            <a:avLst>
              <a:gd name="adj" fmla="val 50000"/>
            </a:avLst>
          </a:prstGeom>
          <a:solidFill>
            <a:srgbClr val="D94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765792" y="4101084"/>
            <a:ext cx="2157984" cy="658368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0E112A"/>
                </a:solidFill>
                <a:latin typeface="Segoe UI"/>
              </a:rPr>
              <a:t>One code base serving users in English, Portuguese and Spanish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66928" y="4773168"/>
            <a:ext cx="11055096" cy="713232"/>
          </a:xfrm>
          <a:prstGeom prst="roundRect">
            <a:avLst>
              <a:gd name="adj" fmla="val 21794"/>
            </a:avLst>
          </a:prstGeom>
          <a:solidFill>
            <a:srgbClr val="FFFFFF"/>
          </a:solidFill>
          <a:ln w="9525">
            <a:solidFill>
              <a:srgbClr val="E3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41248" y="4882896"/>
            <a:ext cx="1280160" cy="384048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0E112A"/>
                </a:solidFill>
                <a:latin typeface="Segoe UI"/>
              </a:rPr>
              <a:t>PROCESS COVERAGE</a:t>
            </a:r>
          </a:p>
          <a:p>
            <a:pPr algn="l">
              <a:lnSpc>
                <a:spcPct val="100000"/>
              </a:lnSpc>
              <a:spcBef>
                <a:spcPts val="200"/>
              </a:spcBef>
            </a:pPr>
            <a:r>
              <a:rPr sz="800" b="0">
                <a:solidFill>
                  <a:srgbClr val="545A72"/>
                </a:solidFill>
                <a:latin typeface="Segoe UI"/>
              </a:rPr>
              <a:t>OTC Derivatives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167128" y="4846320"/>
            <a:ext cx="1735531" cy="292608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>
                <a:solidFill>
                  <a:srgbClr val="0E112A"/>
                </a:solidFill>
                <a:latin typeface="Segoe UI"/>
              </a:rPr>
              <a:t>OTC Tracker — Target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167128" y="5157216"/>
            <a:ext cx="1205179" cy="77724"/>
          </a:xfrm>
          <a:prstGeom prst="roundRect">
            <a:avLst>
              <a:gd name="adj" fmla="val 49411"/>
            </a:avLst>
          </a:prstGeom>
          <a:solidFill>
            <a:srgbClr val="EC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2167128" y="5157216"/>
            <a:ext cx="1049711" cy="77724"/>
          </a:xfrm>
          <a:prstGeom prst="roundRect">
            <a:avLst>
              <a:gd name="adj" fmla="val 49411"/>
            </a:avLst>
          </a:prstGeom>
          <a:solidFill>
            <a:srgbClr val="5E5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427171" y="5093207"/>
            <a:ext cx="530352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5E5CE6"/>
                </a:solidFill>
                <a:latin typeface="Segoe UI"/>
              </a:rPr>
              <a:t>87.10%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012387" y="4846320"/>
            <a:ext cx="1735531" cy="292608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>
                <a:solidFill>
                  <a:srgbClr val="0E112A"/>
                </a:solidFill>
                <a:latin typeface="Segoe UI"/>
              </a:rPr>
              <a:t>OTC Tracker — Today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012387" y="5157216"/>
            <a:ext cx="1205179" cy="77724"/>
          </a:xfrm>
          <a:prstGeom prst="roundRect">
            <a:avLst>
              <a:gd name="adj" fmla="val 49411"/>
            </a:avLst>
          </a:prstGeom>
          <a:solidFill>
            <a:srgbClr val="EC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4012387" y="5157216"/>
            <a:ext cx="330460" cy="77724"/>
          </a:xfrm>
          <a:prstGeom prst="roundRect">
            <a:avLst>
              <a:gd name="adj" fmla="val 49411"/>
            </a:avLst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272430" y="5093207"/>
            <a:ext cx="530352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0066CC"/>
                </a:solidFill>
                <a:latin typeface="Segoe UI"/>
              </a:rPr>
              <a:t>27.42%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857646" y="4846320"/>
            <a:ext cx="1735531" cy="292608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>
                <a:solidFill>
                  <a:srgbClr val="0E112A"/>
                </a:solidFill>
                <a:latin typeface="Segoe UI"/>
              </a:rPr>
              <a:t>Inoa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5857646" y="5157216"/>
            <a:ext cx="1205179" cy="77724"/>
          </a:xfrm>
          <a:prstGeom prst="roundRect">
            <a:avLst>
              <a:gd name="adj" fmla="val 49411"/>
            </a:avLst>
          </a:prstGeom>
          <a:solidFill>
            <a:srgbClr val="EC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5857646" y="5157216"/>
            <a:ext cx="174992" cy="77724"/>
          </a:xfrm>
          <a:prstGeom prst="roundRect">
            <a:avLst>
              <a:gd name="adj" fmla="val 49411"/>
            </a:avLst>
          </a:prstGeom>
          <a:solidFill>
            <a:srgbClr val="9A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117689" y="5093207"/>
            <a:ext cx="530352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9AA3B8"/>
                </a:solidFill>
                <a:latin typeface="Segoe UI"/>
              </a:rPr>
              <a:t>14.52%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702905" y="4846320"/>
            <a:ext cx="1735531" cy="292608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>
                <a:solidFill>
                  <a:srgbClr val="0E112A"/>
                </a:solidFill>
                <a:latin typeface="Segoe UI"/>
              </a:rPr>
              <a:t>Cockpit + AEVO + Registration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7702905" y="5157216"/>
            <a:ext cx="1205179" cy="77724"/>
          </a:xfrm>
          <a:prstGeom prst="roundRect">
            <a:avLst>
              <a:gd name="adj" fmla="val 49411"/>
            </a:avLst>
          </a:prstGeom>
          <a:solidFill>
            <a:srgbClr val="EC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7702905" y="5157216"/>
            <a:ext cx="145826" cy="77724"/>
          </a:xfrm>
          <a:prstGeom prst="roundRect">
            <a:avLst>
              <a:gd name="adj" fmla="val 49411"/>
            </a:avLst>
          </a:prstGeom>
          <a:solidFill>
            <a:srgbClr val="9A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962948" y="5093207"/>
            <a:ext cx="530352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9AA3B8"/>
                </a:solidFill>
                <a:latin typeface="Segoe UI"/>
              </a:rPr>
              <a:t>12.10%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548164" y="4846320"/>
            <a:ext cx="1735531" cy="292608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>
                <a:solidFill>
                  <a:srgbClr val="0E112A"/>
                </a:solidFill>
                <a:latin typeface="Segoe UI"/>
              </a:rPr>
              <a:t>Cockpit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548164" y="5157216"/>
            <a:ext cx="1205179" cy="77724"/>
          </a:xfrm>
          <a:prstGeom prst="roundRect">
            <a:avLst>
              <a:gd name="adj" fmla="val 49411"/>
            </a:avLst>
          </a:prstGeom>
          <a:solidFill>
            <a:srgbClr val="EC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9548164" y="5157216"/>
            <a:ext cx="97137" cy="77724"/>
          </a:xfrm>
          <a:prstGeom prst="roundRect">
            <a:avLst>
              <a:gd name="adj" fmla="val 49411"/>
            </a:avLst>
          </a:prstGeom>
          <a:solidFill>
            <a:srgbClr val="9A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0808208" y="5093207"/>
            <a:ext cx="530352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9AA3B8"/>
                </a:solidFill>
                <a:latin typeface="Segoe UI"/>
              </a:rPr>
              <a:t>8.06%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1248" y="5308092"/>
            <a:ext cx="10515600" cy="164592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7B8299"/>
                </a:solidFill>
                <a:latin typeface="Segoe UI"/>
              </a:rPr>
              <a:t>The % is the share of the 124-point OTC Derivatives process universe each tool automates end-to-end (or nearly so) — everything outside it is still a manual process.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66928" y="5559552"/>
            <a:ext cx="11055096" cy="914400"/>
          </a:xfrm>
          <a:prstGeom prst="roundRect">
            <a:avLst>
              <a:gd name="adj" fmla="val 17000"/>
            </a:avLst>
          </a:prstGeom>
          <a:solidFill>
            <a:srgbClr val="FFFFFF"/>
          </a:solidFill>
          <a:ln w="9525">
            <a:solidFill>
              <a:srgbClr val="E3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41247" y="5760720"/>
            <a:ext cx="2260854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0066CC"/>
                </a:solidFill>
                <a:latin typeface="Segoe UI"/>
              </a:rPr>
              <a:t>CONNECTED TO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41247" y="6035040"/>
            <a:ext cx="2260854" cy="566928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950" b="0">
                <a:solidFill>
                  <a:srgbClr val="545A72"/>
                </a:solidFill>
                <a:latin typeface="Segoe UI"/>
              </a:rPr>
              <a:t>Athena  ·  B3 / CETIP  ·  Reference Data  ·  Electronic Inventory  ·  SSO + 2FA  ·  E-mail and push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330702" y="5760720"/>
            <a:ext cx="7315" cy="512064"/>
          </a:xfrm>
          <a:prstGeom prst="rect">
            <a:avLst/>
          </a:prstGeom>
          <a:solidFill>
            <a:srgbClr val="EC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605022" y="5760720"/>
            <a:ext cx="2260854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5E5CE6"/>
                </a:solidFill>
                <a:latin typeface="Segoe UI"/>
              </a:rPr>
              <a:t>RECONCILES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05022" y="6035040"/>
            <a:ext cx="2260854" cy="566928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950" b="0">
                <a:solidFill>
                  <a:srgbClr val="545A72"/>
                </a:solidFill>
                <a:latin typeface="Segoe UI"/>
              </a:rPr>
              <a:t>FX options: CETIP × Athena end-of-day  ·  Pay / Rec  ·  Comitente  ·  B3 return files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094476" y="5760720"/>
            <a:ext cx="7315" cy="512064"/>
          </a:xfrm>
          <a:prstGeom prst="rect">
            <a:avLst/>
          </a:prstGeom>
          <a:solidFill>
            <a:srgbClr val="EC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368796" y="5760720"/>
            <a:ext cx="2260854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8B5CF6"/>
                </a:solidFill>
                <a:latin typeface="Segoe UI"/>
              </a:rPr>
              <a:t>KEEPS IN SIGHT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68796" y="6035040"/>
            <a:ext cx="2260854" cy="566928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950" b="0">
                <a:solidFill>
                  <a:srgbClr val="545A72"/>
                </a:solidFill>
                <a:latin typeface="Segoe UI"/>
              </a:rPr>
              <a:t>New Deals and Confirmations Monitors  ·  KPI and daily metrics  ·  Alerts when something is late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858249" y="5760720"/>
            <a:ext cx="7315" cy="512064"/>
          </a:xfrm>
          <a:prstGeom prst="rect">
            <a:avLst/>
          </a:prstGeom>
          <a:solidFill>
            <a:srgbClr val="EC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9132569" y="5760720"/>
            <a:ext cx="2260854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D946EF"/>
                </a:solidFill>
                <a:latin typeface="Segoe UI"/>
              </a:rPr>
              <a:t>BENEFITS DELIVERED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132569" y="6035040"/>
            <a:ext cx="2260854" cy="566928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950" b="0">
                <a:solidFill>
                  <a:srgbClr val="545A72"/>
                </a:solidFill>
                <a:latin typeface="Segoe UI"/>
              </a:rPr>
              <a:t>Several Intelligent Solutions consolidated in one place  ·  0.5 FTE reduction already delivered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66928" y="6565392"/>
            <a:ext cx="11055096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B8299"/>
                </a:solidFill>
                <a:latin typeface="Segoe UI"/>
              </a:rPr>
              <a:t>Internal use — Brazil OTC Operations, J.P. Morgan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98448"/>
          </a:xfrm>
          <a:prstGeom prst="rect">
            <a:avLst/>
          </a:prstGeom>
          <a:gradFill rotWithShape="1">
            <a:gsLst>
              <a:gs pos="0">
                <a:srgbClr val="0066CC"/>
              </a:gs>
              <a:gs pos="500">
                <a:srgbClr val="5E5CE6"/>
              </a:gs>
              <a:gs pos="800">
                <a:srgbClr val="8B5CF6"/>
              </a:gs>
              <a:gs pos="1000">
                <a:srgbClr val="D946EF"/>
              </a:gs>
            </a:gsLst>
            <a:lin ang="60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19456"/>
            <a:ext cx="7863840" cy="86868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Segoe UI"/>
              </a:rPr>
              <a:t>Process Coverage Map</a:t>
            </a:r>
          </a:p>
          <a:p>
            <a:pPr algn="l">
              <a:lnSpc>
                <a:spcPct val="100000"/>
              </a:lnSpc>
              <a:spcBef>
                <a:spcPts val="300"/>
              </a:spcBef>
            </a:pPr>
            <a:r>
              <a:rPr sz="1400" b="0">
                <a:solidFill>
                  <a:srgbClr val="E4ECFF"/>
                </a:solidFill>
                <a:latin typeface="Segoe UI"/>
              </a:rPr>
              <a:t>OTC Derivatives — who automates each process, product by product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29400" y="512064"/>
            <a:ext cx="4983480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>
                <a:solidFill>
                  <a:srgbClr val="EBF1FF"/>
                </a:solidFill>
                <a:latin typeface="Segoe UI"/>
              </a:rPr>
              <a:t>Onshore  ·  Offshore   ›   124 process points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481328"/>
            <a:ext cx="11055096" cy="4315968"/>
          </a:xfrm>
          <a:prstGeom prst="roundRect">
            <a:avLst>
              <a:gd name="adj" fmla="val 3601"/>
            </a:avLst>
          </a:prstGeom>
          <a:solidFill>
            <a:srgbClr val="FFFFFF"/>
          </a:solidFill>
          <a:ln w="9525">
            <a:solidFill>
              <a:srgbClr val="E3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450592" y="1572768"/>
            <a:ext cx="4721191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545A72"/>
                </a:solidFill>
                <a:latin typeface="Segoe UI"/>
              </a:rPr>
              <a:t>ONSHORE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87168" y="1737360"/>
            <a:ext cx="4648039" cy="14630"/>
          </a:xfrm>
          <a:prstGeom prst="roundRect">
            <a:avLst>
              <a:gd name="adj" fmla="val 50000"/>
            </a:avLst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71783" y="1572768"/>
            <a:ext cx="4249072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545A72"/>
                </a:solidFill>
                <a:latin typeface="Segoe UI"/>
              </a:rPr>
              <a:t>OFFSHORE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08359" y="1737360"/>
            <a:ext cx="4175920" cy="14630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50592" y="1787652"/>
            <a:ext cx="944238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>
                <a:solidFill>
                  <a:srgbClr val="0E112A"/>
                </a:solidFill>
                <a:latin typeface="Segoe UI"/>
              </a:rPr>
              <a:t>Swap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96312" y="1938528"/>
            <a:ext cx="852798" cy="9144"/>
          </a:xfrm>
          <a:prstGeom prst="rect">
            <a:avLst/>
          </a:prstGeom>
          <a:solidFill>
            <a:srgbClr val="D9D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94830" y="1787652"/>
            <a:ext cx="1888476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>
                <a:solidFill>
                  <a:srgbClr val="0E112A"/>
                </a:solidFill>
                <a:latin typeface="Segoe UI"/>
              </a:rPr>
              <a:t>NDF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40550" y="1938528"/>
            <a:ext cx="1797036" cy="9144"/>
          </a:xfrm>
          <a:prstGeom prst="rect">
            <a:avLst/>
          </a:prstGeom>
          <a:solidFill>
            <a:srgbClr val="D9D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83306" y="1787652"/>
            <a:ext cx="1416357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>
                <a:solidFill>
                  <a:srgbClr val="0E112A"/>
                </a:solidFill>
                <a:latin typeface="Segoe UI"/>
              </a:rPr>
              <a:t>Opção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329026" y="1938528"/>
            <a:ext cx="1324917" cy="9144"/>
          </a:xfrm>
          <a:prstGeom prst="rect">
            <a:avLst/>
          </a:prstGeom>
          <a:solidFill>
            <a:srgbClr val="D9D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99664" y="1787652"/>
            <a:ext cx="472119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>
                <a:solidFill>
                  <a:srgbClr val="0E112A"/>
                </a:solidFill>
                <a:latin typeface="Segoe UI"/>
              </a:rPr>
              <a:t>Others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45384" y="1938528"/>
            <a:ext cx="380679" cy="9144"/>
          </a:xfrm>
          <a:prstGeom prst="rect">
            <a:avLst/>
          </a:prstGeom>
          <a:solidFill>
            <a:srgbClr val="D9D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71783" y="1787652"/>
            <a:ext cx="944238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>
                <a:solidFill>
                  <a:srgbClr val="0E112A"/>
                </a:solidFill>
                <a:latin typeface="Segoe UI"/>
              </a:rPr>
              <a:t>Swap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17503" y="1938528"/>
            <a:ext cx="852798" cy="9144"/>
          </a:xfrm>
          <a:prstGeom prst="rect">
            <a:avLst/>
          </a:prstGeom>
          <a:solidFill>
            <a:srgbClr val="D9D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16021" y="1787652"/>
            <a:ext cx="1888476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>
                <a:solidFill>
                  <a:srgbClr val="0E112A"/>
                </a:solidFill>
                <a:latin typeface="Segoe UI"/>
              </a:rPr>
              <a:t>FXCash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61741" y="1938528"/>
            <a:ext cx="1797036" cy="9144"/>
          </a:xfrm>
          <a:prstGeom prst="rect">
            <a:avLst/>
          </a:prstGeom>
          <a:solidFill>
            <a:srgbClr val="D9D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04498" y="1787652"/>
            <a:ext cx="1416357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>
                <a:solidFill>
                  <a:srgbClr val="0E112A"/>
                </a:solidFill>
                <a:latin typeface="Segoe UI"/>
              </a:rPr>
              <a:t>Opção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50218" y="1938528"/>
            <a:ext cx="1324917" cy="9144"/>
          </a:xfrm>
          <a:prstGeom prst="rect">
            <a:avLst/>
          </a:prstGeom>
          <a:solidFill>
            <a:srgbClr val="D9D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50592" y="1979676"/>
            <a:ext cx="472119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600" b="0">
                <a:solidFill>
                  <a:srgbClr val="545A72"/>
                </a:solidFill>
                <a:latin typeface="Segoe UI"/>
              </a:rPr>
              <a:t>EDG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922711" y="1979676"/>
            <a:ext cx="472119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600" b="0">
                <a:solidFill>
                  <a:srgbClr val="545A72"/>
                </a:solidFill>
                <a:latin typeface="Segoe UI"/>
              </a:rPr>
              <a:t>CEM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94830" y="1979676"/>
            <a:ext cx="472119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600" b="0">
                <a:solidFill>
                  <a:srgbClr val="545A72"/>
                </a:solidFill>
                <a:latin typeface="Segoe UI"/>
              </a:rPr>
              <a:t>Vanilla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66949" y="1979676"/>
            <a:ext cx="472119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600" b="0">
                <a:solidFill>
                  <a:srgbClr val="545A72"/>
                </a:solidFill>
                <a:latin typeface="Segoe UI"/>
              </a:rPr>
              <a:t>FWD Start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39068" y="1979676"/>
            <a:ext cx="472119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600" b="0">
                <a:solidFill>
                  <a:srgbClr val="545A72"/>
                </a:solidFill>
                <a:latin typeface="Segoe UI"/>
              </a:rPr>
              <a:t>Other Publisher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1187" y="1979676"/>
            <a:ext cx="472119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600" b="0">
                <a:solidFill>
                  <a:srgbClr val="545A72"/>
                </a:solidFill>
                <a:latin typeface="Segoe UI"/>
              </a:rPr>
              <a:t>Commodities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83306" y="1979676"/>
            <a:ext cx="472119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600" b="0">
                <a:solidFill>
                  <a:srgbClr val="545A72"/>
                </a:solidFill>
                <a:latin typeface="Segoe UI"/>
              </a:rPr>
              <a:t>EDG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55426" y="1979676"/>
            <a:ext cx="472119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600" b="0">
                <a:solidFill>
                  <a:srgbClr val="545A72"/>
                </a:solidFill>
                <a:latin typeface="Segoe UI"/>
              </a:rPr>
              <a:t>CEM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27545" y="1979676"/>
            <a:ext cx="472119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600" b="0">
                <a:solidFill>
                  <a:srgbClr val="545A72"/>
                </a:solidFill>
                <a:latin typeface="Segoe UI"/>
              </a:rPr>
              <a:t>Commodities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71783" y="1979676"/>
            <a:ext cx="472119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600" b="0">
                <a:solidFill>
                  <a:srgbClr val="545A72"/>
                </a:solidFill>
                <a:latin typeface="Segoe UI"/>
              </a:rPr>
              <a:t>EDG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43902" y="1979676"/>
            <a:ext cx="472119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600" b="0">
                <a:solidFill>
                  <a:srgbClr val="545A72"/>
                </a:solidFill>
                <a:latin typeface="Segoe UI"/>
              </a:rPr>
              <a:t>CEM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16021" y="1979676"/>
            <a:ext cx="472119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600" b="0">
                <a:solidFill>
                  <a:srgbClr val="545A72"/>
                </a:solidFill>
                <a:latin typeface="Segoe UI"/>
              </a:rPr>
              <a:t>NDF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88141" y="1979676"/>
            <a:ext cx="472119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600" b="0">
                <a:solidFill>
                  <a:srgbClr val="545A72"/>
                </a:solidFill>
                <a:latin typeface="Segoe UI"/>
              </a:rPr>
              <a:t>DFW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60260" y="1979676"/>
            <a:ext cx="472119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600" b="0">
                <a:solidFill>
                  <a:srgbClr val="545A72"/>
                </a:solidFill>
                <a:latin typeface="Segoe UI"/>
              </a:rPr>
              <a:t>FX Swap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532379" y="1979676"/>
            <a:ext cx="472119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600" b="0">
                <a:solidFill>
                  <a:srgbClr val="545A72"/>
                </a:solidFill>
                <a:latin typeface="Segoe UI"/>
              </a:rPr>
              <a:t>Commodities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04498" y="1979676"/>
            <a:ext cx="472119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600" b="0">
                <a:solidFill>
                  <a:srgbClr val="545A72"/>
                </a:solidFill>
                <a:latin typeface="Segoe UI"/>
              </a:rPr>
              <a:t>EDG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476617" y="1979676"/>
            <a:ext cx="472119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600" b="0">
                <a:solidFill>
                  <a:srgbClr val="545A72"/>
                </a:solidFill>
                <a:latin typeface="Segoe UI"/>
              </a:rPr>
              <a:t>CEM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48736" y="1979676"/>
            <a:ext cx="472119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600" b="0">
                <a:solidFill>
                  <a:srgbClr val="545A72"/>
                </a:solidFill>
                <a:latin typeface="Segoe UI"/>
              </a:rPr>
              <a:t>Commodities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49808" y="2304288"/>
            <a:ext cx="10671048" cy="260603"/>
          </a:xfrm>
          <a:prstGeom prst="roundRect">
            <a:avLst>
              <a:gd name="adj" fmla="val 17543"/>
            </a:avLst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22960" y="2345436"/>
            <a:ext cx="1572768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0E112A"/>
                </a:solidFill>
                <a:latin typeface="Segoe UI"/>
              </a:rPr>
              <a:t>Registro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608927" y="2356866"/>
            <a:ext cx="155448" cy="155448"/>
          </a:xfrm>
          <a:prstGeom prst="roundRect">
            <a:avLst>
              <a:gd name="adj" fmla="val 29411"/>
            </a:avLst>
          </a:prstGeom>
          <a:solidFill>
            <a:srgbClr val="B9C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3081046" y="2356866"/>
            <a:ext cx="155448" cy="155448"/>
          </a:xfrm>
          <a:prstGeom prst="roundRect">
            <a:avLst>
              <a:gd name="adj" fmla="val 29411"/>
            </a:avLst>
          </a:prstGeom>
          <a:solidFill>
            <a:srgbClr val="B9C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3553165" y="2356866"/>
            <a:ext cx="155448" cy="155448"/>
          </a:xfrm>
          <a:prstGeom prst="roundRect">
            <a:avLst>
              <a:gd name="adj" fmla="val 29411"/>
            </a:avLst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4025285" y="2356866"/>
            <a:ext cx="155448" cy="155448"/>
          </a:xfrm>
          <a:prstGeom prst="roundRect">
            <a:avLst>
              <a:gd name="adj" fmla="val 29411"/>
            </a:avLst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4497404" y="2356866"/>
            <a:ext cx="155448" cy="155448"/>
          </a:xfrm>
          <a:prstGeom prst="roundRect">
            <a:avLst>
              <a:gd name="adj" fmla="val 29411"/>
            </a:avLst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4969523" y="2356866"/>
            <a:ext cx="155448" cy="155448"/>
          </a:xfrm>
          <a:prstGeom prst="roundRect">
            <a:avLst>
              <a:gd name="adj" fmla="val 29411"/>
            </a:avLst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5441642" y="2356866"/>
            <a:ext cx="155448" cy="155448"/>
          </a:xfrm>
          <a:prstGeom prst="roundRect">
            <a:avLst>
              <a:gd name="adj" fmla="val 29411"/>
            </a:avLst>
          </a:prstGeom>
          <a:solidFill>
            <a:srgbClr val="B9C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5913761" y="2356866"/>
            <a:ext cx="155448" cy="155448"/>
          </a:xfrm>
          <a:prstGeom prst="roundRect">
            <a:avLst>
              <a:gd name="adj" fmla="val 29411"/>
            </a:avLst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6385880" y="2356866"/>
            <a:ext cx="155448" cy="155448"/>
          </a:xfrm>
          <a:prstGeom prst="roundRect">
            <a:avLst>
              <a:gd name="adj" fmla="val 29411"/>
            </a:avLst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7802238" y="2356866"/>
            <a:ext cx="155448" cy="155448"/>
          </a:xfrm>
          <a:prstGeom prst="roundRect">
            <a:avLst>
              <a:gd name="adj" fmla="val 29411"/>
            </a:avLst>
          </a:prstGeom>
          <a:solidFill>
            <a:srgbClr val="CBB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8274357" y="2356866"/>
            <a:ext cx="155448" cy="155448"/>
          </a:xfrm>
          <a:prstGeom prst="roundRect">
            <a:avLst>
              <a:gd name="adj" fmla="val 29411"/>
            </a:avLst>
          </a:prstGeom>
          <a:solidFill>
            <a:srgbClr val="CBB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8746476" y="2356866"/>
            <a:ext cx="155448" cy="155448"/>
          </a:xfrm>
          <a:prstGeom prst="roundRect">
            <a:avLst>
              <a:gd name="adj" fmla="val 29411"/>
            </a:avLst>
          </a:prstGeom>
          <a:solidFill>
            <a:srgbClr val="CBB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9218595" y="2356866"/>
            <a:ext cx="155448" cy="155448"/>
          </a:xfrm>
          <a:prstGeom prst="roundRect">
            <a:avLst>
              <a:gd name="adj" fmla="val 29411"/>
            </a:avLst>
          </a:prstGeom>
          <a:solidFill>
            <a:srgbClr val="CBB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9690714" y="2356866"/>
            <a:ext cx="155448" cy="155448"/>
          </a:xfrm>
          <a:prstGeom prst="roundRect">
            <a:avLst>
              <a:gd name="adj" fmla="val 29411"/>
            </a:avLst>
          </a:prstGeom>
          <a:solidFill>
            <a:srgbClr val="CBB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10634953" y="2356866"/>
            <a:ext cx="155448" cy="155448"/>
          </a:xfrm>
          <a:prstGeom prst="roundRect">
            <a:avLst>
              <a:gd name="adj" fmla="val 29411"/>
            </a:avLst>
          </a:prstGeom>
          <a:solidFill>
            <a:srgbClr val="CBB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11107072" y="2356866"/>
            <a:ext cx="155448" cy="155448"/>
          </a:xfrm>
          <a:prstGeom prst="roundRect">
            <a:avLst>
              <a:gd name="adj" fmla="val 29411"/>
            </a:avLst>
          </a:prstGeom>
          <a:solidFill>
            <a:srgbClr val="CBB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22960" y="2606040"/>
            <a:ext cx="1572768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0E112A"/>
                </a:solidFill>
                <a:latin typeface="Segoe UI"/>
              </a:rPr>
              <a:t>Aviso Liquidação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2608927" y="2617470"/>
            <a:ext cx="155448" cy="155448"/>
          </a:xfrm>
          <a:prstGeom prst="roundRect">
            <a:avLst>
              <a:gd name="adj" fmla="val 29411"/>
            </a:avLst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3081046" y="2617470"/>
            <a:ext cx="155448" cy="155448"/>
          </a:xfrm>
          <a:prstGeom prst="roundRect">
            <a:avLst>
              <a:gd name="adj" fmla="val 29411"/>
            </a:avLst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3553165" y="2617470"/>
            <a:ext cx="155448" cy="155448"/>
          </a:xfrm>
          <a:prstGeom prst="roundRect">
            <a:avLst>
              <a:gd name="adj" fmla="val 29411"/>
            </a:avLst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4025285" y="2617470"/>
            <a:ext cx="155448" cy="155448"/>
          </a:xfrm>
          <a:prstGeom prst="roundRect">
            <a:avLst>
              <a:gd name="adj" fmla="val 29411"/>
            </a:avLst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4497404" y="2617470"/>
            <a:ext cx="155448" cy="155448"/>
          </a:xfrm>
          <a:prstGeom prst="roundRect">
            <a:avLst>
              <a:gd name="adj" fmla="val 29411"/>
            </a:avLst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4969523" y="2617470"/>
            <a:ext cx="155448" cy="155448"/>
          </a:xfrm>
          <a:prstGeom prst="roundRect">
            <a:avLst>
              <a:gd name="adj" fmla="val 29411"/>
            </a:avLst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5441642" y="2617470"/>
            <a:ext cx="155448" cy="155448"/>
          </a:xfrm>
          <a:prstGeom prst="roundRect">
            <a:avLst>
              <a:gd name="adj" fmla="val 29411"/>
            </a:avLst>
          </a:prstGeom>
          <a:solidFill>
            <a:srgbClr val="CBB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5913761" y="2617470"/>
            <a:ext cx="155448" cy="155448"/>
          </a:xfrm>
          <a:prstGeom prst="roundRect">
            <a:avLst>
              <a:gd name="adj" fmla="val 29411"/>
            </a:avLst>
          </a:prstGeom>
          <a:solidFill>
            <a:srgbClr val="CBB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6385880" y="2617470"/>
            <a:ext cx="155448" cy="155448"/>
          </a:xfrm>
          <a:prstGeom prst="roundRect">
            <a:avLst>
              <a:gd name="adj" fmla="val 29411"/>
            </a:avLst>
          </a:prstGeom>
          <a:solidFill>
            <a:srgbClr val="CBB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749808" y="2825496"/>
            <a:ext cx="10671048" cy="260603"/>
          </a:xfrm>
          <a:prstGeom prst="roundRect">
            <a:avLst>
              <a:gd name="adj" fmla="val 17543"/>
            </a:avLst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22960" y="2866644"/>
            <a:ext cx="1572768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0E112A"/>
                </a:solidFill>
                <a:latin typeface="Segoe UI"/>
              </a:rPr>
              <a:t>Calculo Imposto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2608927" y="2878074"/>
            <a:ext cx="155448" cy="155448"/>
          </a:xfrm>
          <a:prstGeom prst="roundRect">
            <a:avLst>
              <a:gd name="adj" fmla="val 29411"/>
            </a:avLst>
          </a:prstGeom>
          <a:solidFill>
            <a:srgbClr val="CBB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3081046" y="2878074"/>
            <a:ext cx="155448" cy="155448"/>
          </a:xfrm>
          <a:prstGeom prst="roundRect">
            <a:avLst>
              <a:gd name="adj" fmla="val 29411"/>
            </a:avLst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3553165" y="2878074"/>
            <a:ext cx="155448" cy="155448"/>
          </a:xfrm>
          <a:prstGeom prst="roundRect">
            <a:avLst>
              <a:gd name="adj" fmla="val 29411"/>
            </a:avLst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4025285" y="2878074"/>
            <a:ext cx="155448" cy="155448"/>
          </a:xfrm>
          <a:prstGeom prst="roundRect">
            <a:avLst>
              <a:gd name="adj" fmla="val 29411"/>
            </a:avLst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4497404" y="2878074"/>
            <a:ext cx="155448" cy="155448"/>
          </a:xfrm>
          <a:prstGeom prst="roundRect">
            <a:avLst>
              <a:gd name="adj" fmla="val 29411"/>
            </a:avLst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8" name="Rounded Rectangle 77"/>
          <p:cNvSpPr/>
          <p:nvPr/>
        </p:nvSpPr>
        <p:spPr>
          <a:xfrm>
            <a:off x="4969523" y="2878074"/>
            <a:ext cx="155448" cy="155448"/>
          </a:xfrm>
          <a:prstGeom prst="roundRect">
            <a:avLst>
              <a:gd name="adj" fmla="val 29411"/>
            </a:avLst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9" name="Rounded Rectangle 78"/>
          <p:cNvSpPr/>
          <p:nvPr/>
        </p:nvSpPr>
        <p:spPr>
          <a:xfrm>
            <a:off x="5441642" y="2878074"/>
            <a:ext cx="155448" cy="155448"/>
          </a:xfrm>
          <a:prstGeom prst="roundRect">
            <a:avLst>
              <a:gd name="adj" fmla="val 29411"/>
            </a:avLst>
          </a:prstGeom>
          <a:solidFill>
            <a:srgbClr val="CBB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5913761" y="2878074"/>
            <a:ext cx="155448" cy="155448"/>
          </a:xfrm>
          <a:prstGeom prst="roundRect">
            <a:avLst>
              <a:gd name="adj" fmla="val 29411"/>
            </a:avLst>
          </a:prstGeom>
          <a:solidFill>
            <a:srgbClr val="CBB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6385880" y="2878074"/>
            <a:ext cx="155448" cy="155448"/>
          </a:xfrm>
          <a:prstGeom prst="roundRect">
            <a:avLst>
              <a:gd name="adj" fmla="val 29411"/>
            </a:avLst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822960" y="3127248"/>
            <a:ext cx="1572768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0E112A"/>
                </a:solidFill>
                <a:latin typeface="Segoe UI"/>
              </a:rPr>
              <a:t>Confirmação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2608927" y="3138678"/>
            <a:ext cx="155448" cy="155448"/>
          </a:xfrm>
          <a:prstGeom prst="roundRect">
            <a:avLst>
              <a:gd name="adj" fmla="val 29411"/>
            </a:avLst>
          </a:prstGeom>
          <a:solidFill>
            <a:srgbClr val="CBB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2608927" y="3138678"/>
            <a:ext cx="77724" cy="155448"/>
          </a:xfrm>
          <a:prstGeom prst="roundRect">
            <a:avLst>
              <a:gd name="adj" fmla="val 58823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5" name="Rounded Rectangle 84"/>
          <p:cNvSpPr/>
          <p:nvPr/>
        </p:nvSpPr>
        <p:spPr>
          <a:xfrm>
            <a:off x="3081046" y="3138678"/>
            <a:ext cx="155448" cy="155448"/>
          </a:xfrm>
          <a:prstGeom prst="roundRect">
            <a:avLst>
              <a:gd name="adj" fmla="val 29411"/>
            </a:avLst>
          </a:prstGeom>
          <a:solidFill>
            <a:srgbClr val="CBB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6" name="Rounded Rectangle 85"/>
          <p:cNvSpPr/>
          <p:nvPr/>
        </p:nvSpPr>
        <p:spPr>
          <a:xfrm>
            <a:off x="3081046" y="3138678"/>
            <a:ext cx="77724" cy="155448"/>
          </a:xfrm>
          <a:prstGeom prst="roundRect">
            <a:avLst>
              <a:gd name="adj" fmla="val 58823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7" name="Rounded Rectangle 86"/>
          <p:cNvSpPr/>
          <p:nvPr/>
        </p:nvSpPr>
        <p:spPr>
          <a:xfrm>
            <a:off x="3553165" y="3138678"/>
            <a:ext cx="155448" cy="155448"/>
          </a:xfrm>
          <a:prstGeom prst="roundRect">
            <a:avLst>
              <a:gd name="adj" fmla="val 29411"/>
            </a:avLst>
          </a:prstGeom>
          <a:solidFill>
            <a:srgbClr val="B9C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8" name="Rounded Rectangle 87"/>
          <p:cNvSpPr/>
          <p:nvPr/>
        </p:nvSpPr>
        <p:spPr>
          <a:xfrm>
            <a:off x="4025285" y="3138678"/>
            <a:ext cx="155448" cy="155448"/>
          </a:xfrm>
          <a:prstGeom prst="roundRect">
            <a:avLst>
              <a:gd name="adj" fmla="val 29411"/>
            </a:avLst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9" name="Rounded Rectangle 88"/>
          <p:cNvSpPr/>
          <p:nvPr/>
        </p:nvSpPr>
        <p:spPr>
          <a:xfrm>
            <a:off x="4497404" y="3138678"/>
            <a:ext cx="155448" cy="155448"/>
          </a:xfrm>
          <a:prstGeom prst="roundRect">
            <a:avLst>
              <a:gd name="adj" fmla="val 29411"/>
            </a:avLst>
          </a:prstGeom>
          <a:solidFill>
            <a:srgbClr val="B9C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0" name="Rounded Rectangle 89"/>
          <p:cNvSpPr/>
          <p:nvPr/>
        </p:nvSpPr>
        <p:spPr>
          <a:xfrm>
            <a:off x="4969523" y="3138678"/>
            <a:ext cx="155448" cy="155448"/>
          </a:xfrm>
          <a:prstGeom prst="roundRect">
            <a:avLst>
              <a:gd name="adj" fmla="val 29411"/>
            </a:avLst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5441642" y="3138678"/>
            <a:ext cx="155448" cy="155448"/>
          </a:xfrm>
          <a:prstGeom prst="roundRect">
            <a:avLst>
              <a:gd name="adj" fmla="val 29411"/>
            </a:avLst>
          </a:prstGeom>
          <a:solidFill>
            <a:srgbClr val="CBB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2" name="Rounded Rectangle 91"/>
          <p:cNvSpPr/>
          <p:nvPr/>
        </p:nvSpPr>
        <p:spPr>
          <a:xfrm>
            <a:off x="5913761" y="3138678"/>
            <a:ext cx="155448" cy="155448"/>
          </a:xfrm>
          <a:prstGeom prst="roundRect">
            <a:avLst>
              <a:gd name="adj" fmla="val 29411"/>
            </a:avLst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3" name="Rounded Rectangle 92"/>
          <p:cNvSpPr/>
          <p:nvPr/>
        </p:nvSpPr>
        <p:spPr>
          <a:xfrm>
            <a:off x="6385880" y="3138678"/>
            <a:ext cx="155448" cy="155448"/>
          </a:xfrm>
          <a:prstGeom prst="roundRect">
            <a:avLst>
              <a:gd name="adj" fmla="val 29411"/>
            </a:avLst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4" name="Rounded Rectangle 93"/>
          <p:cNvSpPr/>
          <p:nvPr/>
        </p:nvSpPr>
        <p:spPr>
          <a:xfrm>
            <a:off x="7330119" y="3138678"/>
            <a:ext cx="155448" cy="155448"/>
          </a:xfrm>
          <a:prstGeom prst="roundRect">
            <a:avLst>
              <a:gd name="adj" fmla="val 29411"/>
            </a:avLst>
          </a:prstGeom>
          <a:solidFill>
            <a:srgbClr val="CBB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5" name="Rounded Rectangle 94"/>
          <p:cNvSpPr/>
          <p:nvPr/>
        </p:nvSpPr>
        <p:spPr>
          <a:xfrm>
            <a:off x="7802238" y="3138678"/>
            <a:ext cx="155448" cy="155448"/>
          </a:xfrm>
          <a:prstGeom prst="roundRect">
            <a:avLst>
              <a:gd name="adj" fmla="val 29411"/>
            </a:avLst>
          </a:prstGeom>
          <a:solidFill>
            <a:srgbClr val="CBB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8274357" y="3138678"/>
            <a:ext cx="155448" cy="155448"/>
          </a:xfrm>
          <a:prstGeom prst="roundRect">
            <a:avLst>
              <a:gd name="adj" fmla="val 29411"/>
            </a:avLst>
          </a:prstGeom>
          <a:solidFill>
            <a:srgbClr val="CBB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7" name="Rounded Rectangle 96"/>
          <p:cNvSpPr/>
          <p:nvPr/>
        </p:nvSpPr>
        <p:spPr>
          <a:xfrm>
            <a:off x="8746476" y="3138678"/>
            <a:ext cx="155448" cy="155448"/>
          </a:xfrm>
          <a:prstGeom prst="roundRect">
            <a:avLst>
              <a:gd name="adj" fmla="val 29411"/>
            </a:avLst>
          </a:prstGeom>
          <a:solidFill>
            <a:srgbClr val="CBB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9218595" y="3138678"/>
            <a:ext cx="155448" cy="155448"/>
          </a:xfrm>
          <a:prstGeom prst="roundRect">
            <a:avLst>
              <a:gd name="adj" fmla="val 29411"/>
            </a:avLst>
          </a:prstGeom>
          <a:solidFill>
            <a:srgbClr val="CBB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9690714" y="3138678"/>
            <a:ext cx="155448" cy="155448"/>
          </a:xfrm>
          <a:prstGeom prst="roundRect">
            <a:avLst>
              <a:gd name="adj" fmla="val 29411"/>
            </a:avLst>
          </a:prstGeom>
          <a:solidFill>
            <a:srgbClr val="CBB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0" name="Rounded Rectangle 99"/>
          <p:cNvSpPr/>
          <p:nvPr/>
        </p:nvSpPr>
        <p:spPr>
          <a:xfrm>
            <a:off x="10162834" y="3138678"/>
            <a:ext cx="155448" cy="155448"/>
          </a:xfrm>
          <a:prstGeom prst="roundRect">
            <a:avLst>
              <a:gd name="adj" fmla="val 29411"/>
            </a:avLst>
          </a:prstGeom>
          <a:solidFill>
            <a:srgbClr val="CBB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1" name="Rounded Rectangle 100"/>
          <p:cNvSpPr/>
          <p:nvPr/>
        </p:nvSpPr>
        <p:spPr>
          <a:xfrm>
            <a:off x="10634953" y="3138678"/>
            <a:ext cx="155448" cy="155448"/>
          </a:xfrm>
          <a:prstGeom prst="roundRect">
            <a:avLst>
              <a:gd name="adj" fmla="val 29411"/>
            </a:avLst>
          </a:prstGeom>
          <a:solidFill>
            <a:srgbClr val="CBB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2" name="Rounded Rectangle 101"/>
          <p:cNvSpPr/>
          <p:nvPr/>
        </p:nvSpPr>
        <p:spPr>
          <a:xfrm>
            <a:off x="11107072" y="3138678"/>
            <a:ext cx="155448" cy="155448"/>
          </a:xfrm>
          <a:prstGeom prst="roundRect">
            <a:avLst>
              <a:gd name="adj" fmla="val 29411"/>
            </a:avLst>
          </a:prstGeom>
          <a:solidFill>
            <a:srgbClr val="CBB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3" name="Rounded Rectangle 102"/>
          <p:cNvSpPr/>
          <p:nvPr/>
        </p:nvSpPr>
        <p:spPr>
          <a:xfrm>
            <a:off x="749808" y="3346704"/>
            <a:ext cx="10671048" cy="260603"/>
          </a:xfrm>
          <a:prstGeom prst="roundRect">
            <a:avLst>
              <a:gd name="adj" fmla="val 17543"/>
            </a:avLst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822960" y="3387852"/>
            <a:ext cx="1572768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0E112A"/>
                </a:solidFill>
                <a:latin typeface="Segoe UI"/>
              </a:rPr>
              <a:t>Recompra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2608927" y="3399282"/>
            <a:ext cx="155448" cy="155448"/>
          </a:xfrm>
          <a:prstGeom prst="roundRect">
            <a:avLst>
              <a:gd name="adj" fmla="val 29411"/>
            </a:avLst>
          </a:prstGeom>
          <a:solidFill>
            <a:srgbClr val="CBB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6" name="Rounded Rectangle 105"/>
          <p:cNvSpPr/>
          <p:nvPr/>
        </p:nvSpPr>
        <p:spPr>
          <a:xfrm>
            <a:off x="3081046" y="3399282"/>
            <a:ext cx="155448" cy="155448"/>
          </a:xfrm>
          <a:prstGeom prst="roundRect">
            <a:avLst>
              <a:gd name="adj" fmla="val 29411"/>
            </a:avLst>
          </a:prstGeom>
          <a:solidFill>
            <a:srgbClr val="CBB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7" name="Rounded Rectangle 106"/>
          <p:cNvSpPr/>
          <p:nvPr/>
        </p:nvSpPr>
        <p:spPr>
          <a:xfrm>
            <a:off x="3553165" y="3399282"/>
            <a:ext cx="155448" cy="155448"/>
          </a:xfrm>
          <a:prstGeom prst="roundRect">
            <a:avLst>
              <a:gd name="adj" fmla="val 29411"/>
            </a:avLst>
          </a:prstGeom>
          <a:solidFill>
            <a:srgbClr val="B9C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8" name="Rounded Rectangle 107"/>
          <p:cNvSpPr/>
          <p:nvPr/>
        </p:nvSpPr>
        <p:spPr>
          <a:xfrm>
            <a:off x="4025285" y="3399282"/>
            <a:ext cx="155448" cy="155448"/>
          </a:xfrm>
          <a:prstGeom prst="roundRect">
            <a:avLst>
              <a:gd name="adj" fmla="val 29411"/>
            </a:avLst>
          </a:prstGeom>
          <a:solidFill>
            <a:srgbClr val="B9C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9" name="Rounded Rectangle 108"/>
          <p:cNvSpPr/>
          <p:nvPr/>
        </p:nvSpPr>
        <p:spPr>
          <a:xfrm>
            <a:off x="4497404" y="3399282"/>
            <a:ext cx="155448" cy="155448"/>
          </a:xfrm>
          <a:prstGeom prst="roundRect">
            <a:avLst>
              <a:gd name="adj" fmla="val 29411"/>
            </a:avLst>
          </a:prstGeom>
          <a:solidFill>
            <a:srgbClr val="B9C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0" name="Rounded Rectangle 109"/>
          <p:cNvSpPr/>
          <p:nvPr/>
        </p:nvSpPr>
        <p:spPr>
          <a:xfrm>
            <a:off x="4969523" y="3399282"/>
            <a:ext cx="155448" cy="155448"/>
          </a:xfrm>
          <a:prstGeom prst="roundRect">
            <a:avLst>
              <a:gd name="adj" fmla="val 29411"/>
            </a:avLst>
          </a:prstGeom>
          <a:solidFill>
            <a:srgbClr val="CBB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1" name="Rounded Rectangle 110"/>
          <p:cNvSpPr/>
          <p:nvPr/>
        </p:nvSpPr>
        <p:spPr>
          <a:xfrm>
            <a:off x="5441642" y="3399282"/>
            <a:ext cx="155448" cy="155448"/>
          </a:xfrm>
          <a:prstGeom prst="roundRect">
            <a:avLst>
              <a:gd name="adj" fmla="val 29411"/>
            </a:avLst>
          </a:prstGeom>
          <a:solidFill>
            <a:srgbClr val="CBB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2" name="Rounded Rectangle 111"/>
          <p:cNvSpPr/>
          <p:nvPr/>
        </p:nvSpPr>
        <p:spPr>
          <a:xfrm>
            <a:off x="5913761" y="3399282"/>
            <a:ext cx="155448" cy="155448"/>
          </a:xfrm>
          <a:prstGeom prst="roundRect">
            <a:avLst>
              <a:gd name="adj" fmla="val 29411"/>
            </a:avLst>
          </a:prstGeom>
          <a:solidFill>
            <a:srgbClr val="CBB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3" name="Rounded Rectangle 112"/>
          <p:cNvSpPr/>
          <p:nvPr/>
        </p:nvSpPr>
        <p:spPr>
          <a:xfrm>
            <a:off x="6385880" y="3399282"/>
            <a:ext cx="155448" cy="155448"/>
          </a:xfrm>
          <a:prstGeom prst="roundRect">
            <a:avLst>
              <a:gd name="adj" fmla="val 29411"/>
            </a:avLst>
          </a:prstGeom>
          <a:solidFill>
            <a:srgbClr val="CBB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4" name="Rounded Rectangle 113"/>
          <p:cNvSpPr/>
          <p:nvPr/>
        </p:nvSpPr>
        <p:spPr>
          <a:xfrm>
            <a:off x="7330119" y="3399282"/>
            <a:ext cx="155448" cy="155448"/>
          </a:xfrm>
          <a:prstGeom prst="roundRect">
            <a:avLst>
              <a:gd name="adj" fmla="val 29411"/>
            </a:avLst>
          </a:prstGeom>
          <a:solidFill>
            <a:srgbClr val="CBB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5" name="Rounded Rectangle 114"/>
          <p:cNvSpPr/>
          <p:nvPr/>
        </p:nvSpPr>
        <p:spPr>
          <a:xfrm>
            <a:off x="7802238" y="3399282"/>
            <a:ext cx="155448" cy="155448"/>
          </a:xfrm>
          <a:prstGeom prst="roundRect">
            <a:avLst>
              <a:gd name="adj" fmla="val 29411"/>
            </a:avLst>
          </a:prstGeom>
          <a:solidFill>
            <a:srgbClr val="CBB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6" name="Rounded Rectangle 115"/>
          <p:cNvSpPr/>
          <p:nvPr/>
        </p:nvSpPr>
        <p:spPr>
          <a:xfrm>
            <a:off x="8274357" y="3399282"/>
            <a:ext cx="155448" cy="155448"/>
          </a:xfrm>
          <a:prstGeom prst="roundRect">
            <a:avLst>
              <a:gd name="adj" fmla="val 29411"/>
            </a:avLst>
          </a:prstGeom>
          <a:solidFill>
            <a:srgbClr val="CBB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7" name="Rounded Rectangle 116"/>
          <p:cNvSpPr/>
          <p:nvPr/>
        </p:nvSpPr>
        <p:spPr>
          <a:xfrm>
            <a:off x="8746476" y="3399282"/>
            <a:ext cx="155448" cy="155448"/>
          </a:xfrm>
          <a:prstGeom prst="roundRect">
            <a:avLst>
              <a:gd name="adj" fmla="val 29411"/>
            </a:avLst>
          </a:prstGeom>
          <a:solidFill>
            <a:srgbClr val="CBB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8" name="Rounded Rectangle 117"/>
          <p:cNvSpPr/>
          <p:nvPr/>
        </p:nvSpPr>
        <p:spPr>
          <a:xfrm>
            <a:off x="9218595" y="3399282"/>
            <a:ext cx="155448" cy="155448"/>
          </a:xfrm>
          <a:prstGeom prst="roundRect">
            <a:avLst>
              <a:gd name="adj" fmla="val 29411"/>
            </a:avLst>
          </a:prstGeom>
          <a:solidFill>
            <a:srgbClr val="CBB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9" name="Rounded Rectangle 118"/>
          <p:cNvSpPr/>
          <p:nvPr/>
        </p:nvSpPr>
        <p:spPr>
          <a:xfrm>
            <a:off x="9690714" y="3399282"/>
            <a:ext cx="155448" cy="155448"/>
          </a:xfrm>
          <a:prstGeom prst="roundRect">
            <a:avLst>
              <a:gd name="adj" fmla="val 29411"/>
            </a:avLst>
          </a:prstGeom>
          <a:solidFill>
            <a:srgbClr val="CBB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0" name="Rounded Rectangle 119"/>
          <p:cNvSpPr/>
          <p:nvPr/>
        </p:nvSpPr>
        <p:spPr>
          <a:xfrm>
            <a:off x="10162834" y="3399282"/>
            <a:ext cx="155448" cy="155448"/>
          </a:xfrm>
          <a:prstGeom prst="roundRect">
            <a:avLst>
              <a:gd name="adj" fmla="val 29411"/>
            </a:avLst>
          </a:prstGeom>
          <a:solidFill>
            <a:srgbClr val="CBB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1" name="Rounded Rectangle 120"/>
          <p:cNvSpPr/>
          <p:nvPr/>
        </p:nvSpPr>
        <p:spPr>
          <a:xfrm>
            <a:off x="10634953" y="3399282"/>
            <a:ext cx="155448" cy="155448"/>
          </a:xfrm>
          <a:prstGeom prst="roundRect">
            <a:avLst>
              <a:gd name="adj" fmla="val 29411"/>
            </a:avLst>
          </a:prstGeom>
          <a:solidFill>
            <a:srgbClr val="CBB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2" name="Rounded Rectangle 121"/>
          <p:cNvSpPr/>
          <p:nvPr/>
        </p:nvSpPr>
        <p:spPr>
          <a:xfrm>
            <a:off x="11107072" y="3399282"/>
            <a:ext cx="155448" cy="155448"/>
          </a:xfrm>
          <a:prstGeom prst="roundRect">
            <a:avLst>
              <a:gd name="adj" fmla="val 29411"/>
            </a:avLst>
          </a:prstGeom>
          <a:solidFill>
            <a:srgbClr val="CBB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22960" y="3648456"/>
            <a:ext cx="1572768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0E112A"/>
                </a:solidFill>
                <a:latin typeface="Segoe UI"/>
              </a:rPr>
              <a:t>Reconciliação Posicao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2608927" y="3659885"/>
            <a:ext cx="155448" cy="155448"/>
          </a:xfrm>
          <a:prstGeom prst="roundRect">
            <a:avLst>
              <a:gd name="adj" fmla="val 29411"/>
            </a:avLst>
          </a:prstGeom>
          <a:solidFill>
            <a:srgbClr val="B9C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5" name="Rounded Rectangle 124"/>
          <p:cNvSpPr/>
          <p:nvPr/>
        </p:nvSpPr>
        <p:spPr>
          <a:xfrm>
            <a:off x="3081046" y="3659885"/>
            <a:ext cx="155448" cy="155448"/>
          </a:xfrm>
          <a:prstGeom prst="roundRect">
            <a:avLst>
              <a:gd name="adj" fmla="val 29411"/>
            </a:avLst>
          </a:prstGeom>
          <a:solidFill>
            <a:srgbClr val="B9C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6" name="Rounded Rectangle 125"/>
          <p:cNvSpPr/>
          <p:nvPr/>
        </p:nvSpPr>
        <p:spPr>
          <a:xfrm>
            <a:off x="3553165" y="3659885"/>
            <a:ext cx="155448" cy="155448"/>
          </a:xfrm>
          <a:prstGeom prst="roundRect">
            <a:avLst>
              <a:gd name="adj" fmla="val 29411"/>
            </a:avLst>
          </a:prstGeom>
          <a:solidFill>
            <a:srgbClr val="B9C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7" name="Rounded Rectangle 126"/>
          <p:cNvSpPr/>
          <p:nvPr/>
        </p:nvSpPr>
        <p:spPr>
          <a:xfrm>
            <a:off x="4025285" y="3659885"/>
            <a:ext cx="155448" cy="155448"/>
          </a:xfrm>
          <a:prstGeom prst="roundRect">
            <a:avLst>
              <a:gd name="adj" fmla="val 29411"/>
            </a:avLst>
          </a:prstGeom>
          <a:solidFill>
            <a:srgbClr val="B9C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8" name="Rounded Rectangle 127"/>
          <p:cNvSpPr/>
          <p:nvPr/>
        </p:nvSpPr>
        <p:spPr>
          <a:xfrm>
            <a:off x="4497404" y="3659885"/>
            <a:ext cx="155448" cy="155448"/>
          </a:xfrm>
          <a:prstGeom prst="roundRect">
            <a:avLst>
              <a:gd name="adj" fmla="val 29411"/>
            </a:avLst>
          </a:prstGeom>
          <a:solidFill>
            <a:srgbClr val="B9C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9" name="Rounded Rectangle 128"/>
          <p:cNvSpPr/>
          <p:nvPr/>
        </p:nvSpPr>
        <p:spPr>
          <a:xfrm>
            <a:off x="4969523" y="3659885"/>
            <a:ext cx="155448" cy="155448"/>
          </a:xfrm>
          <a:prstGeom prst="roundRect">
            <a:avLst>
              <a:gd name="adj" fmla="val 29411"/>
            </a:avLst>
          </a:prstGeom>
          <a:solidFill>
            <a:srgbClr val="B9C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0" name="Rounded Rectangle 129"/>
          <p:cNvSpPr/>
          <p:nvPr/>
        </p:nvSpPr>
        <p:spPr>
          <a:xfrm>
            <a:off x="5441642" y="3659885"/>
            <a:ext cx="155448" cy="155448"/>
          </a:xfrm>
          <a:prstGeom prst="roundRect">
            <a:avLst>
              <a:gd name="adj" fmla="val 29411"/>
            </a:avLst>
          </a:prstGeom>
          <a:solidFill>
            <a:srgbClr val="B9C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1" name="Rounded Rectangle 130"/>
          <p:cNvSpPr/>
          <p:nvPr/>
        </p:nvSpPr>
        <p:spPr>
          <a:xfrm>
            <a:off x="5913761" y="3659885"/>
            <a:ext cx="155448" cy="155448"/>
          </a:xfrm>
          <a:prstGeom prst="roundRect">
            <a:avLst>
              <a:gd name="adj" fmla="val 29411"/>
            </a:avLst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2" name="Rounded Rectangle 131"/>
          <p:cNvSpPr/>
          <p:nvPr/>
        </p:nvSpPr>
        <p:spPr>
          <a:xfrm>
            <a:off x="6385880" y="3659885"/>
            <a:ext cx="155448" cy="155448"/>
          </a:xfrm>
          <a:prstGeom prst="roundRect">
            <a:avLst>
              <a:gd name="adj" fmla="val 29411"/>
            </a:avLst>
          </a:prstGeom>
          <a:solidFill>
            <a:srgbClr val="B9C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3" name="Rounded Rectangle 132"/>
          <p:cNvSpPr/>
          <p:nvPr/>
        </p:nvSpPr>
        <p:spPr>
          <a:xfrm>
            <a:off x="7802238" y="3659885"/>
            <a:ext cx="155448" cy="155448"/>
          </a:xfrm>
          <a:prstGeom prst="roundRect">
            <a:avLst>
              <a:gd name="adj" fmla="val 29411"/>
            </a:avLst>
          </a:prstGeom>
          <a:solidFill>
            <a:srgbClr val="CBB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4" name="Rounded Rectangle 133"/>
          <p:cNvSpPr/>
          <p:nvPr/>
        </p:nvSpPr>
        <p:spPr>
          <a:xfrm>
            <a:off x="8274357" y="3659885"/>
            <a:ext cx="155448" cy="155448"/>
          </a:xfrm>
          <a:prstGeom prst="roundRect">
            <a:avLst>
              <a:gd name="adj" fmla="val 29411"/>
            </a:avLst>
          </a:prstGeom>
          <a:solidFill>
            <a:srgbClr val="CBB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5" name="Rounded Rectangle 134"/>
          <p:cNvSpPr/>
          <p:nvPr/>
        </p:nvSpPr>
        <p:spPr>
          <a:xfrm>
            <a:off x="8746476" y="3659885"/>
            <a:ext cx="155448" cy="155448"/>
          </a:xfrm>
          <a:prstGeom prst="roundRect">
            <a:avLst>
              <a:gd name="adj" fmla="val 29411"/>
            </a:avLst>
          </a:prstGeom>
          <a:solidFill>
            <a:srgbClr val="CBB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6" name="Rounded Rectangle 135"/>
          <p:cNvSpPr/>
          <p:nvPr/>
        </p:nvSpPr>
        <p:spPr>
          <a:xfrm>
            <a:off x="9218595" y="3659885"/>
            <a:ext cx="155448" cy="155448"/>
          </a:xfrm>
          <a:prstGeom prst="roundRect">
            <a:avLst>
              <a:gd name="adj" fmla="val 29411"/>
            </a:avLst>
          </a:prstGeom>
          <a:solidFill>
            <a:srgbClr val="CBB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7" name="Rounded Rectangle 136"/>
          <p:cNvSpPr/>
          <p:nvPr/>
        </p:nvSpPr>
        <p:spPr>
          <a:xfrm>
            <a:off x="9690714" y="3659885"/>
            <a:ext cx="155448" cy="155448"/>
          </a:xfrm>
          <a:prstGeom prst="roundRect">
            <a:avLst>
              <a:gd name="adj" fmla="val 29411"/>
            </a:avLst>
          </a:prstGeom>
          <a:solidFill>
            <a:srgbClr val="CBB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8" name="Rounded Rectangle 137"/>
          <p:cNvSpPr/>
          <p:nvPr/>
        </p:nvSpPr>
        <p:spPr>
          <a:xfrm>
            <a:off x="10634953" y="3659885"/>
            <a:ext cx="155448" cy="155448"/>
          </a:xfrm>
          <a:prstGeom prst="roundRect">
            <a:avLst>
              <a:gd name="adj" fmla="val 29411"/>
            </a:avLst>
          </a:prstGeom>
          <a:solidFill>
            <a:srgbClr val="CBB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9" name="Rounded Rectangle 138"/>
          <p:cNvSpPr/>
          <p:nvPr/>
        </p:nvSpPr>
        <p:spPr>
          <a:xfrm>
            <a:off x="11107072" y="3659885"/>
            <a:ext cx="155448" cy="155448"/>
          </a:xfrm>
          <a:prstGeom prst="roundRect">
            <a:avLst>
              <a:gd name="adj" fmla="val 29411"/>
            </a:avLst>
          </a:prstGeom>
          <a:solidFill>
            <a:srgbClr val="CBB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0" name="Rounded Rectangle 139"/>
          <p:cNvSpPr/>
          <p:nvPr/>
        </p:nvSpPr>
        <p:spPr>
          <a:xfrm>
            <a:off x="749808" y="3867912"/>
            <a:ext cx="10671048" cy="260603"/>
          </a:xfrm>
          <a:prstGeom prst="roundRect">
            <a:avLst>
              <a:gd name="adj" fmla="val 17543"/>
            </a:avLst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822960" y="3909060"/>
            <a:ext cx="1572768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0E112A"/>
                </a:solidFill>
                <a:latin typeface="Segoe UI"/>
              </a:rPr>
              <a:t>Pagamentos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2608927" y="3920490"/>
            <a:ext cx="155448" cy="155448"/>
          </a:xfrm>
          <a:prstGeom prst="roundRect">
            <a:avLst>
              <a:gd name="adj" fmla="val 29411"/>
            </a:avLst>
          </a:prstGeom>
          <a:solidFill>
            <a:srgbClr val="EFC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3" name="Rounded Rectangle 142"/>
          <p:cNvSpPr/>
          <p:nvPr/>
        </p:nvSpPr>
        <p:spPr>
          <a:xfrm>
            <a:off x="3081046" y="3920490"/>
            <a:ext cx="155448" cy="155448"/>
          </a:xfrm>
          <a:prstGeom prst="roundRect">
            <a:avLst>
              <a:gd name="adj" fmla="val 29411"/>
            </a:avLst>
          </a:prstGeom>
          <a:solidFill>
            <a:srgbClr val="EFC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4" name="Rounded Rectangle 143"/>
          <p:cNvSpPr/>
          <p:nvPr/>
        </p:nvSpPr>
        <p:spPr>
          <a:xfrm>
            <a:off x="3553165" y="3920490"/>
            <a:ext cx="155448" cy="155448"/>
          </a:xfrm>
          <a:prstGeom prst="roundRect">
            <a:avLst>
              <a:gd name="adj" fmla="val 29411"/>
            </a:avLst>
          </a:prstGeom>
          <a:solidFill>
            <a:srgbClr val="B9C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5" name="Rounded Rectangle 144"/>
          <p:cNvSpPr/>
          <p:nvPr/>
        </p:nvSpPr>
        <p:spPr>
          <a:xfrm>
            <a:off x="4025285" y="3920490"/>
            <a:ext cx="155448" cy="155448"/>
          </a:xfrm>
          <a:prstGeom prst="roundRect">
            <a:avLst>
              <a:gd name="adj" fmla="val 29411"/>
            </a:avLst>
          </a:prstGeom>
          <a:solidFill>
            <a:srgbClr val="B9C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6" name="Rounded Rectangle 145"/>
          <p:cNvSpPr/>
          <p:nvPr/>
        </p:nvSpPr>
        <p:spPr>
          <a:xfrm>
            <a:off x="4497404" y="3920490"/>
            <a:ext cx="155448" cy="155448"/>
          </a:xfrm>
          <a:prstGeom prst="roundRect">
            <a:avLst>
              <a:gd name="adj" fmla="val 29411"/>
            </a:avLst>
          </a:prstGeom>
          <a:solidFill>
            <a:srgbClr val="B9C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7" name="Rounded Rectangle 146"/>
          <p:cNvSpPr/>
          <p:nvPr/>
        </p:nvSpPr>
        <p:spPr>
          <a:xfrm>
            <a:off x="4969523" y="3920490"/>
            <a:ext cx="155448" cy="155448"/>
          </a:xfrm>
          <a:prstGeom prst="roundRect">
            <a:avLst>
              <a:gd name="adj" fmla="val 29411"/>
            </a:avLst>
          </a:prstGeom>
          <a:solidFill>
            <a:srgbClr val="EFC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8" name="Rounded Rectangle 147"/>
          <p:cNvSpPr/>
          <p:nvPr/>
        </p:nvSpPr>
        <p:spPr>
          <a:xfrm>
            <a:off x="5441642" y="3920490"/>
            <a:ext cx="155448" cy="155448"/>
          </a:xfrm>
          <a:prstGeom prst="roundRect">
            <a:avLst>
              <a:gd name="adj" fmla="val 29411"/>
            </a:avLst>
          </a:prstGeom>
          <a:solidFill>
            <a:srgbClr val="EFC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9" name="Rounded Rectangle 148"/>
          <p:cNvSpPr/>
          <p:nvPr/>
        </p:nvSpPr>
        <p:spPr>
          <a:xfrm>
            <a:off x="5913761" y="3920490"/>
            <a:ext cx="155448" cy="155448"/>
          </a:xfrm>
          <a:prstGeom prst="roundRect">
            <a:avLst>
              <a:gd name="adj" fmla="val 29411"/>
            </a:avLst>
          </a:prstGeom>
          <a:solidFill>
            <a:srgbClr val="EFC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0" name="Rounded Rectangle 149"/>
          <p:cNvSpPr/>
          <p:nvPr/>
        </p:nvSpPr>
        <p:spPr>
          <a:xfrm>
            <a:off x="6385880" y="3920490"/>
            <a:ext cx="155448" cy="155448"/>
          </a:xfrm>
          <a:prstGeom prst="roundRect">
            <a:avLst>
              <a:gd name="adj" fmla="val 29411"/>
            </a:avLst>
          </a:prstGeom>
          <a:solidFill>
            <a:srgbClr val="EFC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822960" y="4169663"/>
            <a:ext cx="1572768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0E112A"/>
                </a:solidFill>
                <a:latin typeface="Segoe UI"/>
              </a:rPr>
              <a:t>Emissão de CGD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6858000" y="4181094"/>
            <a:ext cx="155448" cy="155448"/>
          </a:xfrm>
          <a:prstGeom prst="roundRect">
            <a:avLst>
              <a:gd name="adj" fmla="val 29411"/>
            </a:avLst>
          </a:prstGeom>
          <a:solidFill>
            <a:srgbClr val="CBB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3" name="Rounded Rectangle 152"/>
          <p:cNvSpPr/>
          <p:nvPr/>
        </p:nvSpPr>
        <p:spPr>
          <a:xfrm>
            <a:off x="749808" y="4389120"/>
            <a:ext cx="10671048" cy="260603"/>
          </a:xfrm>
          <a:prstGeom prst="roundRect">
            <a:avLst>
              <a:gd name="adj" fmla="val 17543"/>
            </a:avLst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822960" y="4430268"/>
            <a:ext cx="1572768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0E112A"/>
                </a:solidFill>
                <a:latin typeface="Segoe UI"/>
              </a:rPr>
              <a:t>EA ou Aviso Premio D+0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2608927" y="4441698"/>
            <a:ext cx="155448" cy="155448"/>
          </a:xfrm>
          <a:prstGeom prst="roundRect">
            <a:avLst>
              <a:gd name="adj" fmla="val 29411"/>
            </a:avLst>
          </a:prstGeom>
          <a:solidFill>
            <a:srgbClr val="CBB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6" name="Rounded Rectangle 155"/>
          <p:cNvSpPr/>
          <p:nvPr/>
        </p:nvSpPr>
        <p:spPr>
          <a:xfrm>
            <a:off x="3081046" y="4441698"/>
            <a:ext cx="155448" cy="155448"/>
          </a:xfrm>
          <a:prstGeom prst="roundRect">
            <a:avLst>
              <a:gd name="adj" fmla="val 29411"/>
            </a:avLst>
          </a:prstGeom>
          <a:solidFill>
            <a:srgbClr val="CBB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7" name="Rounded Rectangle 156"/>
          <p:cNvSpPr/>
          <p:nvPr/>
        </p:nvSpPr>
        <p:spPr>
          <a:xfrm>
            <a:off x="3553165" y="4441698"/>
            <a:ext cx="155448" cy="155448"/>
          </a:xfrm>
          <a:prstGeom prst="roundRect">
            <a:avLst>
              <a:gd name="adj" fmla="val 29411"/>
            </a:avLst>
          </a:prstGeom>
          <a:solidFill>
            <a:srgbClr val="CBB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8" name="Rounded Rectangle 157"/>
          <p:cNvSpPr/>
          <p:nvPr/>
        </p:nvSpPr>
        <p:spPr>
          <a:xfrm>
            <a:off x="4025285" y="4441698"/>
            <a:ext cx="155448" cy="155448"/>
          </a:xfrm>
          <a:prstGeom prst="roundRect">
            <a:avLst>
              <a:gd name="adj" fmla="val 29411"/>
            </a:avLst>
          </a:prstGeom>
          <a:solidFill>
            <a:srgbClr val="CBB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9" name="Rounded Rectangle 158"/>
          <p:cNvSpPr/>
          <p:nvPr/>
        </p:nvSpPr>
        <p:spPr>
          <a:xfrm>
            <a:off x="4497404" y="4441698"/>
            <a:ext cx="155448" cy="155448"/>
          </a:xfrm>
          <a:prstGeom prst="roundRect">
            <a:avLst>
              <a:gd name="adj" fmla="val 29411"/>
            </a:avLst>
          </a:prstGeom>
          <a:solidFill>
            <a:srgbClr val="CBB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0" name="Rounded Rectangle 159"/>
          <p:cNvSpPr/>
          <p:nvPr/>
        </p:nvSpPr>
        <p:spPr>
          <a:xfrm>
            <a:off x="4969523" y="4441698"/>
            <a:ext cx="155448" cy="155448"/>
          </a:xfrm>
          <a:prstGeom prst="roundRect">
            <a:avLst>
              <a:gd name="adj" fmla="val 29411"/>
            </a:avLst>
          </a:prstGeom>
          <a:solidFill>
            <a:srgbClr val="CBB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1" name="Rounded Rectangle 160"/>
          <p:cNvSpPr/>
          <p:nvPr/>
        </p:nvSpPr>
        <p:spPr>
          <a:xfrm>
            <a:off x="5441642" y="4441698"/>
            <a:ext cx="155448" cy="155448"/>
          </a:xfrm>
          <a:prstGeom prst="roundRect">
            <a:avLst>
              <a:gd name="adj" fmla="val 29411"/>
            </a:avLst>
          </a:prstGeom>
          <a:solidFill>
            <a:srgbClr val="CBB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2" name="Rounded Rectangle 161"/>
          <p:cNvSpPr/>
          <p:nvPr/>
        </p:nvSpPr>
        <p:spPr>
          <a:xfrm>
            <a:off x="5913761" y="4441698"/>
            <a:ext cx="155448" cy="155448"/>
          </a:xfrm>
          <a:prstGeom prst="roundRect">
            <a:avLst>
              <a:gd name="adj" fmla="val 29411"/>
            </a:avLst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3" name="Rounded Rectangle 162"/>
          <p:cNvSpPr/>
          <p:nvPr/>
        </p:nvSpPr>
        <p:spPr>
          <a:xfrm>
            <a:off x="6385880" y="4441698"/>
            <a:ext cx="155448" cy="155448"/>
          </a:xfrm>
          <a:prstGeom prst="roundRect">
            <a:avLst>
              <a:gd name="adj" fmla="val 29411"/>
            </a:avLst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822960" y="4690872"/>
            <a:ext cx="1572768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0E112A"/>
                </a:solidFill>
                <a:latin typeface="Segoe UI"/>
              </a:rPr>
              <a:t>Reconciliação Comitente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6858000" y="4702302"/>
            <a:ext cx="155448" cy="155448"/>
          </a:xfrm>
          <a:prstGeom prst="roundRect">
            <a:avLst>
              <a:gd name="adj" fmla="val 29411"/>
            </a:avLst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6" name="Rounded Rectangle 165"/>
          <p:cNvSpPr/>
          <p:nvPr/>
        </p:nvSpPr>
        <p:spPr>
          <a:xfrm>
            <a:off x="749808" y="4910327"/>
            <a:ext cx="10671048" cy="260603"/>
          </a:xfrm>
          <a:prstGeom prst="roundRect">
            <a:avLst>
              <a:gd name="adj" fmla="val 17543"/>
            </a:avLst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822960" y="4951475"/>
            <a:ext cx="1572768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0E112A"/>
                </a:solidFill>
                <a:latin typeface="Segoe UI"/>
              </a:rPr>
              <a:t>Controle Pay/Rec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6858000" y="4962905"/>
            <a:ext cx="155448" cy="155448"/>
          </a:xfrm>
          <a:prstGeom prst="roundRect">
            <a:avLst>
              <a:gd name="adj" fmla="val 29411"/>
            </a:avLst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822960" y="5212079"/>
            <a:ext cx="1572768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0E112A"/>
                </a:solidFill>
                <a:latin typeface="Segoe UI"/>
              </a:rPr>
              <a:t>Inventário Eletronico</a:t>
            </a:r>
          </a:p>
        </p:txBody>
      </p:sp>
      <p:sp>
        <p:nvSpPr>
          <p:cNvPr id="170" name="Rounded Rectangle 169"/>
          <p:cNvSpPr/>
          <p:nvPr/>
        </p:nvSpPr>
        <p:spPr>
          <a:xfrm>
            <a:off x="6858000" y="5223509"/>
            <a:ext cx="155448" cy="155448"/>
          </a:xfrm>
          <a:prstGeom prst="roundRect">
            <a:avLst>
              <a:gd name="adj" fmla="val 29411"/>
            </a:avLst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1" name="Rounded Rectangle 170"/>
          <p:cNvSpPr/>
          <p:nvPr/>
        </p:nvSpPr>
        <p:spPr>
          <a:xfrm>
            <a:off x="749808" y="5431536"/>
            <a:ext cx="10671048" cy="260603"/>
          </a:xfrm>
          <a:prstGeom prst="roundRect">
            <a:avLst>
              <a:gd name="adj" fmla="val 17543"/>
            </a:avLst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822960" y="5472683"/>
            <a:ext cx="1572768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0E112A"/>
                </a:solidFill>
                <a:latin typeface="Segoe UI"/>
              </a:rPr>
              <a:t>Intrag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2608927" y="5484114"/>
            <a:ext cx="155448" cy="155448"/>
          </a:xfrm>
          <a:prstGeom prst="roundRect">
            <a:avLst>
              <a:gd name="adj" fmla="val 29411"/>
            </a:avLst>
          </a:prstGeom>
          <a:solidFill>
            <a:srgbClr val="CBB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" name="Rounded Rectangle 173"/>
          <p:cNvSpPr/>
          <p:nvPr/>
        </p:nvSpPr>
        <p:spPr>
          <a:xfrm>
            <a:off x="3081046" y="5484114"/>
            <a:ext cx="155448" cy="155448"/>
          </a:xfrm>
          <a:prstGeom prst="roundRect">
            <a:avLst>
              <a:gd name="adj" fmla="val 29411"/>
            </a:avLst>
          </a:prstGeom>
          <a:solidFill>
            <a:srgbClr val="CBB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5" name="Rounded Rectangle 174"/>
          <p:cNvSpPr/>
          <p:nvPr/>
        </p:nvSpPr>
        <p:spPr>
          <a:xfrm>
            <a:off x="3553165" y="5484114"/>
            <a:ext cx="155448" cy="155448"/>
          </a:xfrm>
          <a:prstGeom prst="roundRect">
            <a:avLst>
              <a:gd name="adj" fmla="val 29411"/>
            </a:avLst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6" name="Rounded Rectangle 175"/>
          <p:cNvSpPr/>
          <p:nvPr/>
        </p:nvSpPr>
        <p:spPr>
          <a:xfrm>
            <a:off x="4025285" y="5484114"/>
            <a:ext cx="155448" cy="155448"/>
          </a:xfrm>
          <a:prstGeom prst="roundRect">
            <a:avLst>
              <a:gd name="adj" fmla="val 29411"/>
            </a:avLst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7" name="Rounded Rectangle 176"/>
          <p:cNvSpPr/>
          <p:nvPr/>
        </p:nvSpPr>
        <p:spPr>
          <a:xfrm>
            <a:off x="4497404" y="5484114"/>
            <a:ext cx="155448" cy="155448"/>
          </a:xfrm>
          <a:prstGeom prst="roundRect">
            <a:avLst>
              <a:gd name="adj" fmla="val 29411"/>
            </a:avLst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8" name="Rounded Rectangle 177"/>
          <p:cNvSpPr/>
          <p:nvPr/>
        </p:nvSpPr>
        <p:spPr>
          <a:xfrm>
            <a:off x="4969523" y="5484114"/>
            <a:ext cx="155448" cy="155448"/>
          </a:xfrm>
          <a:prstGeom prst="roundRect">
            <a:avLst>
              <a:gd name="adj" fmla="val 29411"/>
            </a:avLst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9" name="Rounded Rectangle 178"/>
          <p:cNvSpPr/>
          <p:nvPr/>
        </p:nvSpPr>
        <p:spPr>
          <a:xfrm>
            <a:off x="5441642" y="5484114"/>
            <a:ext cx="155448" cy="155448"/>
          </a:xfrm>
          <a:prstGeom prst="roundRect">
            <a:avLst>
              <a:gd name="adj" fmla="val 29411"/>
            </a:avLst>
          </a:prstGeom>
          <a:solidFill>
            <a:srgbClr val="CBB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0" name="Rounded Rectangle 179"/>
          <p:cNvSpPr/>
          <p:nvPr/>
        </p:nvSpPr>
        <p:spPr>
          <a:xfrm>
            <a:off x="5913761" y="5484114"/>
            <a:ext cx="155448" cy="155448"/>
          </a:xfrm>
          <a:prstGeom prst="roundRect">
            <a:avLst>
              <a:gd name="adj" fmla="val 29411"/>
            </a:avLst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1" name="Rounded Rectangle 180"/>
          <p:cNvSpPr/>
          <p:nvPr/>
        </p:nvSpPr>
        <p:spPr>
          <a:xfrm>
            <a:off x="6385880" y="5484114"/>
            <a:ext cx="155448" cy="155448"/>
          </a:xfrm>
          <a:prstGeom prst="roundRect">
            <a:avLst>
              <a:gd name="adj" fmla="val 29411"/>
            </a:avLst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2" name="Rounded Rectangle 181"/>
          <p:cNvSpPr/>
          <p:nvPr/>
        </p:nvSpPr>
        <p:spPr>
          <a:xfrm>
            <a:off x="7802238" y="5484114"/>
            <a:ext cx="155448" cy="155448"/>
          </a:xfrm>
          <a:prstGeom prst="roundRect">
            <a:avLst>
              <a:gd name="adj" fmla="val 29411"/>
            </a:avLst>
          </a:prstGeom>
          <a:solidFill>
            <a:srgbClr val="CBB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3" name="Rounded Rectangle 182"/>
          <p:cNvSpPr/>
          <p:nvPr/>
        </p:nvSpPr>
        <p:spPr>
          <a:xfrm>
            <a:off x="8274357" y="5484114"/>
            <a:ext cx="155448" cy="155448"/>
          </a:xfrm>
          <a:prstGeom prst="roundRect">
            <a:avLst>
              <a:gd name="adj" fmla="val 29411"/>
            </a:avLst>
          </a:prstGeom>
          <a:solidFill>
            <a:srgbClr val="CBB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4" name="Rounded Rectangle 183"/>
          <p:cNvSpPr/>
          <p:nvPr/>
        </p:nvSpPr>
        <p:spPr>
          <a:xfrm>
            <a:off x="8746476" y="5484114"/>
            <a:ext cx="155448" cy="155448"/>
          </a:xfrm>
          <a:prstGeom prst="roundRect">
            <a:avLst>
              <a:gd name="adj" fmla="val 29411"/>
            </a:avLst>
          </a:prstGeom>
          <a:solidFill>
            <a:srgbClr val="CBB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5" name="Rounded Rectangle 184"/>
          <p:cNvSpPr/>
          <p:nvPr/>
        </p:nvSpPr>
        <p:spPr>
          <a:xfrm>
            <a:off x="9218595" y="5484114"/>
            <a:ext cx="155448" cy="155448"/>
          </a:xfrm>
          <a:prstGeom prst="roundRect">
            <a:avLst>
              <a:gd name="adj" fmla="val 29411"/>
            </a:avLst>
          </a:prstGeom>
          <a:solidFill>
            <a:srgbClr val="CBB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6" name="Rounded Rectangle 185"/>
          <p:cNvSpPr/>
          <p:nvPr/>
        </p:nvSpPr>
        <p:spPr>
          <a:xfrm>
            <a:off x="9690714" y="5484114"/>
            <a:ext cx="155448" cy="155448"/>
          </a:xfrm>
          <a:prstGeom prst="roundRect">
            <a:avLst>
              <a:gd name="adj" fmla="val 29411"/>
            </a:avLst>
          </a:prstGeom>
          <a:solidFill>
            <a:srgbClr val="CBB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7" name="Rounded Rectangle 186"/>
          <p:cNvSpPr/>
          <p:nvPr/>
        </p:nvSpPr>
        <p:spPr>
          <a:xfrm>
            <a:off x="10634953" y="5484114"/>
            <a:ext cx="155448" cy="155448"/>
          </a:xfrm>
          <a:prstGeom prst="roundRect">
            <a:avLst>
              <a:gd name="adj" fmla="val 29411"/>
            </a:avLst>
          </a:prstGeom>
          <a:solidFill>
            <a:srgbClr val="CBB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8" name="Rounded Rectangle 187"/>
          <p:cNvSpPr/>
          <p:nvPr/>
        </p:nvSpPr>
        <p:spPr>
          <a:xfrm>
            <a:off x="11107072" y="5484114"/>
            <a:ext cx="155448" cy="155448"/>
          </a:xfrm>
          <a:prstGeom prst="roundRect">
            <a:avLst>
              <a:gd name="adj" fmla="val 29411"/>
            </a:avLst>
          </a:prstGeom>
          <a:solidFill>
            <a:srgbClr val="CBB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9" name="Rounded Rectangle 188"/>
          <p:cNvSpPr/>
          <p:nvPr/>
        </p:nvSpPr>
        <p:spPr>
          <a:xfrm>
            <a:off x="566928" y="5961888"/>
            <a:ext cx="137160" cy="137160"/>
          </a:xfrm>
          <a:prstGeom prst="roundRect">
            <a:avLst>
              <a:gd name="adj" fmla="val 30000"/>
            </a:avLst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768096" y="5957316"/>
            <a:ext cx="3108960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45A72"/>
                </a:solidFill>
                <a:latin typeface="Segoe UI"/>
              </a:rPr>
              <a:t>Automated in OTC Tracker today (34)</a:t>
            </a:r>
          </a:p>
        </p:txBody>
      </p:sp>
      <p:sp>
        <p:nvSpPr>
          <p:cNvPr id="191" name="Rounded Rectangle 190"/>
          <p:cNvSpPr/>
          <p:nvPr/>
        </p:nvSpPr>
        <p:spPr>
          <a:xfrm>
            <a:off x="3026664" y="5961888"/>
            <a:ext cx="137160" cy="137160"/>
          </a:xfrm>
          <a:prstGeom prst="roundRect">
            <a:avLst>
              <a:gd name="adj" fmla="val 30000"/>
            </a:avLst>
          </a:prstGeom>
          <a:solidFill>
            <a:srgbClr val="B9C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3227832" y="5957316"/>
            <a:ext cx="3108960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45A72"/>
                </a:solidFill>
                <a:latin typeface="Segoe UI"/>
              </a:rPr>
              <a:t>Legacy tools — Cockpit / Inoa / AEVO (19)</a:t>
            </a:r>
          </a:p>
        </p:txBody>
      </p:sp>
      <p:sp>
        <p:nvSpPr>
          <p:cNvPr id="193" name="Rounded Rectangle 192"/>
          <p:cNvSpPr/>
          <p:nvPr/>
        </p:nvSpPr>
        <p:spPr>
          <a:xfrm>
            <a:off x="5848502" y="5961888"/>
            <a:ext cx="137160" cy="137160"/>
          </a:xfrm>
          <a:prstGeom prst="roundRect">
            <a:avLst>
              <a:gd name="adj" fmla="val 30000"/>
            </a:avLst>
          </a:prstGeom>
          <a:solidFill>
            <a:srgbClr val="CBB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4" name="TextBox 193"/>
          <p:cNvSpPr txBox="1"/>
          <p:nvPr/>
        </p:nvSpPr>
        <p:spPr>
          <a:xfrm>
            <a:off x="6049670" y="5957316"/>
            <a:ext cx="3108960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45A72"/>
                </a:solidFill>
                <a:latin typeface="Segoe UI"/>
              </a:rPr>
              <a:t>OTC Tracker target (65)</a:t>
            </a:r>
          </a:p>
        </p:txBody>
      </p:sp>
      <p:sp>
        <p:nvSpPr>
          <p:cNvPr id="195" name="Rounded Rectangle 194"/>
          <p:cNvSpPr/>
          <p:nvPr/>
        </p:nvSpPr>
        <p:spPr>
          <a:xfrm>
            <a:off x="7584033" y="5961888"/>
            <a:ext cx="137160" cy="137160"/>
          </a:xfrm>
          <a:prstGeom prst="roundRect">
            <a:avLst>
              <a:gd name="adj" fmla="val 30000"/>
            </a:avLst>
          </a:prstGeom>
          <a:solidFill>
            <a:srgbClr val="EFC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6" name="TextBox 195"/>
          <p:cNvSpPr txBox="1"/>
          <p:nvPr/>
        </p:nvSpPr>
        <p:spPr>
          <a:xfrm>
            <a:off x="7785201" y="5957316"/>
            <a:ext cx="3108960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45A72"/>
                </a:solidFill>
                <a:latin typeface="Segoe UI"/>
              </a:rPr>
              <a:t>Manual, outside the target (6)</a:t>
            </a:r>
          </a:p>
        </p:txBody>
      </p:sp>
      <p:sp>
        <p:nvSpPr>
          <p:cNvPr id="197" name="Rounded Rectangle 196"/>
          <p:cNvSpPr/>
          <p:nvPr/>
        </p:nvSpPr>
        <p:spPr>
          <a:xfrm>
            <a:off x="9742017" y="5961888"/>
            <a:ext cx="137160" cy="137160"/>
          </a:xfrm>
          <a:prstGeom prst="roundRect">
            <a:avLst>
              <a:gd name="adj" fmla="val 30000"/>
            </a:avLst>
          </a:prstGeom>
          <a:solidFill>
            <a:srgbClr val="CBB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8" name="Rounded Rectangle 197"/>
          <p:cNvSpPr/>
          <p:nvPr/>
        </p:nvSpPr>
        <p:spPr>
          <a:xfrm>
            <a:off x="9742017" y="5961888"/>
            <a:ext cx="68580" cy="137160"/>
          </a:xfrm>
          <a:prstGeom prst="roundRect">
            <a:avLst>
              <a:gd name="adj" fmla="val 60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9943185" y="5957316"/>
            <a:ext cx="3108960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45A72"/>
                </a:solidFill>
                <a:latin typeface="Segoe UI"/>
              </a:rPr>
              <a:t>half = partial in target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566928" y="6565392"/>
            <a:ext cx="11055096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B8299"/>
                </a:solidFill>
                <a:latin typeface="Segoe UI"/>
              </a:rPr>
              <a:t>Internal use — Brazil OTC Operations, J.P. Morgan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