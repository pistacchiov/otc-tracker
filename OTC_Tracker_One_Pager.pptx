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500">
                <a:srgbClr val="5E5CE6"/>
              </a:gs>
              <a:gs pos="800">
                <a:srgbClr val="8B5CF6"/>
              </a:gs>
              <a:gs pos="1000">
                <a:srgbClr val="D946EF"/>
              </a:gs>
            </a:gsLst>
            <a:lin ang="6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9456"/>
            <a:ext cx="786384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OTC Tracker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400" b="0">
                <a:solidFill>
                  <a:srgbClr val="E4ECFF"/>
                </a:solidFill>
                <a:latin typeface="Segoe UI"/>
              </a:rPr>
              <a:t>One platform for the full OTC derivatives lifecycle — Brazil OTC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512064"/>
            <a:ext cx="498348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EBF1FF"/>
                </a:solidFill>
                <a:latin typeface="Segoe UI"/>
              </a:rPr>
              <a:t>Trade capture  ›  B3 / CETIP registration  ›  Client confirmation  ›  Settlement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2724912" cy="3200400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37360"/>
            <a:ext cx="475488" cy="68580"/>
          </a:xfrm>
          <a:prstGeom prst="roundRect">
            <a:avLst>
              <a:gd name="adj" fmla="val 49333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2322576" cy="56692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0E112A"/>
                </a:solidFill>
                <a:latin typeface="Segoe UI"/>
              </a:rPr>
              <a:t>One solution, end to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2322576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545A72"/>
                </a:solidFill>
                <a:latin typeface="Segoe UI"/>
              </a:rPr>
              <a:t>Registration, confirmation, settlement and regulatory reporting live in the same place — every user reads and writes the same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2689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1866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100+ screens covering NDF, FX and commodity options, swaps, unwinds and intragroup legs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37261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6438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The step that follows always knows what the previous one did — no re-keying between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41833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010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No side spreadsheet as the source of truth — nothing left to reconcile between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11296" y="1481328"/>
            <a:ext cx="2724912" cy="3200400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12463" y="1737360"/>
            <a:ext cx="475488" cy="68580"/>
          </a:xfrm>
          <a:prstGeom prst="roundRect">
            <a:avLst>
              <a:gd name="adj" fmla="val 49333"/>
            </a:avLst>
          </a:prstGeom>
          <a:solidFill>
            <a:srgbClr val="5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2463" y="1920240"/>
            <a:ext cx="2322576" cy="56692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0E112A"/>
                </a:solidFill>
                <a:latin typeface="Segoe UI"/>
              </a:rPr>
              <a:t>The routine runs itself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3" y="2395728"/>
            <a:ext cx="2322576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545A72"/>
                </a:solidFill>
                <a:latin typeface="Segoe UI"/>
              </a:rPr>
              <a:t>What used to be typed, copied or remembered is now imported, generated or scheduled — people are left with the decisions.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0752" y="32689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5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77056" y="31866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Trades pulled from Athena automatically — NDF every 20 minutes, FX options hourly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30752" y="37261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5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77056" y="36438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Client confirmations, settlement advices and B3 / CETIP files produced by the solution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0752" y="41833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5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7056" y="41010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Daily routines e-mail each user exactly what is still open, without anyone asking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55664" y="1481328"/>
            <a:ext cx="2724912" cy="3200400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56831" y="1737360"/>
            <a:ext cx="475488" cy="68580"/>
          </a:xfrm>
          <a:prstGeom prst="roundRect">
            <a:avLst>
              <a:gd name="adj" fmla="val 49333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1" y="1920240"/>
            <a:ext cx="2322576" cy="56692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0E112A"/>
                </a:solidFill>
                <a:latin typeface="Segoe UI"/>
              </a:rPr>
              <a:t>Controls built into the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1" y="2395728"/>
            <a:ext cx="2322576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545A72"/>
                </a:solidFill>
                <a:latin typeface="Segoe UI"/>
              </a:rPr>
              <a:t>The check is part of the screen, not a separate review — so nothing depends on someone remembering to do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2689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1424" y="31866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Confirmation trail OTC › MO / FO, with each stage signed only by its own users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7261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1424" y="36438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Deadlines in business days; signing off late requires a written justification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41833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21424" y="41010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Every action stamped with date, time and employee ID, plus maker / checker on the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00032" y="1481328"/>
            <a:ext cx="2724912" cy="3200400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01200" y="1737360"/>
            <a:ext cx="475488" cy="68580"/>
          </a:xfrm>
          <a:prstGeom prst="roundRect">
            <a:avLst>
              <a:gd name="adj" fmla="val 49333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1920240"/>
            <a:ext cx="2322576" cy="56692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0E112A"/>
                </a:solidFill>
                <a:latin typeface="Segoe UI"/>
              </a:rPr>
              <a:t>Changes without a release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395728"/>
            <a:ext cx="2322576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>
                <a:solidFill>
                  <a:srgbClr val="545A72"/>
                </a:solidFill>
                <a:latin typeface="Segoe UI"/>
              </a:rPr>
              <a:t>The rules the users own are edited on screen and take effect on the next click — no code change, no deployment window.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19488" y="32689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65792" y="31866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25 on-screen registries hold the mappings that used to be hard-coded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19488" y="37261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65792" y="36438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Access granted page by page — and routine by routine inside the Control Panel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19488" y="41833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65792" y="4101084"/>
            <a:ext cx="2157984" cy="6583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E112A"/>
                </a:solidFill>
                <a:latin typeface="Segoe UI"/>
              </a:rPr>
              <a:t>One code base serving users in English, Portuguese and Spanish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773168"/>
            <a:ext cx="11055096" cy="713232"/>
          </a:xfrm>
          <a:prstGeom prst="roundRect">
            <a:avLst>
              <a:gd name="adj" fmla="val 21794"/>
            </a:avLst>
          </a:prstGeom>
          <a:solidFill>
            <a:srgbClr val="FFFFFF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4882896"/>
            <a:ext cx="128016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E112A"/>
                </a:solidFill>
                <a:latin typeface="Segoe UI"/>
              </a:rPr>
              <a:t>PROCESS COVERAGE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800" b="0">
                <a:solidFill>
                  <a:srgbClr val="545A72"/>
                </a:solidFill>
                <a:latin typeface="Segoe UI"/>
              </a:rPr>
              <a:t>OTC Derivatives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67128" y="4846320"/>
            <a:ext cx="1735531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OTC Tracker — Target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67128" y="5157216"/>
            <a:ext cx="1205179" cy="77724"/>
          </a:xfrm>
          <a:prstGeom prst="roundRect">
            <a:avLst>
              <a:gd name="adj" fmla="val 49411"/>
            </a:avLst>
          </a:prstGeom>
          <a:solidFill>
            <a:srgbClr val="EC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167128" y="5157216"/>
            <a:ext cx="1031994" cy="77724"/>
          </a:xfrm>
          <a:prstGeom prst="roundRect">
            <a:avLst>
              <a:gd name="adj" fmla="val 49411"/>
            </a:avLst>
          </a:prstGeom>
          <a:solidFill>
            <a:srgbClr val="5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7171" y="5093207"/>
            <a:ext cx="530352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E5CE6"/>
                </a:solidFill>
                <a:latin typeface="Segoe UI"/>
              </a:rPr>
              <a:t>85.63%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12387" y="4846320"/>
            <a:ext cx="1735531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OTC Tracker — Today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12387" y="5157216"/>
            <a:ext cx="1205179" cy="77724"/>
          </a:xfrm>
          <a:prstGeom prst="roundRect">
            <a:avLst>
              <a:gd name="adj" fmla="val 49411"/>
            </a:avLst>
          </a:prstGeom>
          <a:solidFill>
            <a:srgbClr val="EC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012387" y="5157216"/>
            <a:ext cx="361553" cy="77724"/>
          </a:xfrm>
          <a:prstGeom prst="roundRect">
            <a:avLst>
              <a:gd name="adj" fmla="val 4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72430" y="5093207"/>
            <a:ext cx="530352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066CC"/>
                </a:solidFill>
                <a:latin typeface="Segoe UI"/>
              </a:rPr>
              <a:t>30.00%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57646" y="4846320"/>
            <a:ext cx="1735531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Inoa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57646" y="5157216"/>
            <a:ext cx="1205179" cy="77724"/>
          </a:xfrm>
          <a:prstGeom prst="roundRect">
            <a:avLst>
              <a:gd name="adj" fmla="val 49411"/>
            </a:avLst>
          </a:prstGeom>
          <a:solidFill>
            <a:srgbClr val="EC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857646" y="5157216"/>
            <a:ext cx="203434" cy="77724"/>
          </a:xfrm>
          <a:prstGeom prst="roundRect">
            <a:avLst>
              <a:gd name="adj" fmla="val 49411"/>
            </a:avLst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17689" y="5093207"/>
            <a:ext cx="530352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AA3B8"/>
                </a:solidFill>
                <a:latin typeface="Segoe UI"/>
              </a:rPr>
              <a:t>16.88%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02905" y="4846320"/>
            <a:ext cx="1735531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Cockpit + AEVO + Registration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02905" y="5157216"/>
            <a:ext cx="1205179" cy="77724"/>
          </a:xfrm>
          <a:prstGeom prst="roundRect">
            <a:avLst>
              <a:gd name="adj" fmla="val 49411"/>
            </a:avLst>
          </a:prstGeom>
          <a:solidFill>
            <a:srgbClr val="EC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702905" y="5157216"/>
            <a:ext cx="113045" cy="77724"/>
          </a:xfrm>
          <a:prstGeom prst="roundRect">
            <a:avLst>
              <a:gd name="adj" fmla="val 49411"/>
            </a:avLst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62948" y="5093207"/>
            <a:ext cx="530352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AA3B8"/>
                </a:solidFill>
                <a:latin typeface="Segoe UI"/>
              </a:rPr>
              <a:t>9.38%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48164" y="4846320"/>
            <a:ext cx="1735531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Cockpit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48164" y="5157216"/>
            <a:ext cx="1205179" cy="77724"/>
          </a:xfrm>
          <a:prstGeom prst="roundRect">
            <a:avLst>
              <a:gd name="adj" fmla="val 49411"/>
            </a:avLst>
          </a:prstGeom>
          <a:solidFill>
            <a:srgbClr val="EC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548164" y="5157216"/>
            <a:ext cx="73033" cy="77724"/>
          </a:xfrm>
          <a:prstGeom prst="roundRect">
            <a:avLst>
              <a:gd name="adj" fmla="val 52584"/>
            </a:avLst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08208" y="5093207"/>
            <a:ext cx="530352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AA3B8"/>
                </a:solidFill>
                <a:latin typeface="Segoe UI"/>
              </a:rPr>
              <a:t>6.06%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" y="5308092"/>
            <a:ext cx="10515600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7B8299"/>
                </a:solidFill>
                <a:latin typeface="Segoe UI"/>
              </a:rPr>
              <a:t>The % is the share of the 160-point OTC Derivatives process universe each tool automates end-to-end (or nearly so) — everything outside it is still a manual process.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5559552"/>
            <a:ext cx="11055096" cy="914400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7" y="5760720"/>
            <a:ext cx="2260854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66CC"/>
                </a:solidFill>
                <a:latin typeface="Segoe UI"/>
              </a:rPr>
              <a:t>CONNECTED 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7" y="6035040"/>
            <a:ext cx="2260854" cy="56692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545A72"/>
                </a:solidFill>
                <a:latin typeface="Segoe UI"/>
              </a:rPr>
              <a:t>Athena  ·  B3 / CETIP  ·  Reference Data  ·  Electronic Inventory  ·  SSO + 2FA  ·  E-mail and push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30702" y="5760720"/>
            <a:ext cx="7315" cy="512064"/>
          </a:xfrm>
          <a:prstGeom prst="rect">
            <a:avLst/>
          </a:prstGeom>
          <a:solidFill>
            <a:srgbClr val="EC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05022" y="5760720"/>
            <a:ext cx="2260854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5CE6"/>
                </a:solidFill>
                <a:latin typeface="Segoe UI"/>
              </a:rPr>
              <a:t>RECONCILES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05022" y="6035040"/>
            <a:ext cx="2260854" cy="56692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545A72"/>
                </a:solidFill>
                <a:latin typeface="Segoe UI"/>
              </a:rPr>
              <a:t>FX options: CETIP × Athena end-of-day  ·  Pay / Rec  ·  Comitente  ·  B3 return files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94476" y="5760720"/>
            <a:ext cx="7315" cy="512064"/>
          </a:xfrm>
          <a:prstGeom prst="rect">
            <a:avLst/>
          </a:prstGeom>
          <a:solidFill>
            <a:srgbClr val="EC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68796" y="5760720"/>
            <a:ext cx="2260854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B5CF6"/>
                </a:solidFill>
                <a:latin typeface="Segoe UI"/>
              </a:rPr>
              <a:t>KEEPS IN SIGHT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8796" y="6035040"/>
            <a:ext cx="2260854" cy="56692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545A72"/>
                </a:solidFill>
                <a:latin typeface="Segoe UI"/>
              </a:rPr>
              <a:t>New Deals and Confirmations Monitors  ·  KPI and daily metrics  ·  Alerts when something is late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58249" y="5760720"/>
            <a:ext cx="7315" cy="512064"/>
          </a:xfrm>
          <a:prstGeom prst="rect">
            <a:avLst/>
          </a:prstGeom>
          <a:solidFill>
            <a:srgbClr val="EC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32569" y="5760720"/>
            <a:ext cx="2260854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946EF"/>
                </a:solidFill>
                <a:latin typeface="Segoe UI"/>
              </a:rPr>
              <a:t>BENEFITS DELIVERED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32569" y="6035040"/>
            <a:ext cx="2260854" cy="56692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545A72"/>
                </a:solidFill>
                <a:latin typeface="Segoe UI"/>
              </a:rPr>
              <a:t>Several Intelligent Solutions consolidated in one place  ·  0.5 FTE reduction already delivered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6565392"/>
            <a:ext cx="11055096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299"/>
                </a:solidFill>
                <a:latin typeface="Segoe UI"/>
              </a:rPr>
              <a:t>Internal use — Brazil OTC Operations, J.P. Morgan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500">
                <a:srgbClr val="5E5CE6"/>
              </a:gs>
              <a:gs pos="800">
                <a:srgbClr val="8B5CF6"/>
              </a:gs>
              <a:gs pos="1000">
                <a:srgbClr val="D946EF"/>
              </a:gs>
            </a:gsLst>
            <a:lin ang="6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9456"/>
            <a:ext cx="786384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Process Coverage Map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400" b="0">
                <a:solidFill>
                  <a:srgbClr val="E4ECFF"/>
                </a:solidFill>
                <a:latin typeface="Segoe UI"/>
              </a:rPr>
              <a:t>OTC Derivatives — who automates each process, product by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512064"/>
            <a:ext cx="498348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EBF1FF"/>
                </a:solidFill>
                <a:latin typeface="Segoe UI"/>
              </a:rPr>
              <a:t>Onshore  ·  Offshore   ›   124 process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1055096" cy="4315968"/>
          </a:xfrm>
          <a:prstGeom prst="roundRect">
            <a:avLst>
              <a:gd name="adj" fmla="val 3601"/>
            </a:avLst>
          </a:prstGeom>
          <a:solidFill>
            <a:srgbClr val="FFFFFF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1572768"/>
            <a:ext cx="4721191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545A72"/>
                </a:solidFill>
                <a:latin typeface="Segoe UI"/>
              </a:rPr>
              <a:t>ONSHORE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1737360"/>
            <a:ext cx="4648039" cy="1463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1783" y="1572768"/>
            <a:ext cx="4249072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545A72"/>
                </a:solidFill>
                <a:latin typeface="Segoe UI"/>
              </a:rPr>
              <a:t>OFFSHORE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8359" y="1737360"/>
            <a:ext cx="4175920" cy="1463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1787652"/>
            <a:ext cx="94423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0E112A"/>
                </a:solidFill>
                <a:latin typeface="Segoe UI"/>
              </a:rPr>
              <a:t>Swap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96312" y="1938528"/>
            <a:ext cx="852798" cy="9144"/>
          </a:xfrm>
          <a:prstGeom prst="rect">
            <a:avLst/>
          </a:prstGeom>
          <a:solidFill>
            <a:srgbClr val="D9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4830" y="1787652"/>
            <a:ext cx="1888476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0E112A"/>
                </a:solidFill>
                <a:latin typeface="Segoe UI"/>
              </a:rPr>
              <a:t>NDF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0550" y="1938528"/>
            <a:ext cx="1797036" cy="9144"/>
          </a:xfrm>
          <a:prstGeom prst="rect">
            <a:avLst/>
          </a:prstGeom>
          <a:solidFill>
            <a:srgbClr val="D9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3306" y="1787652"/>
            <a:ext cx="1416357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0E112A"/>
                </a:solidFill>
                <a:latin typeface="Segoe UI"/>
              </a:rPr>
              <a:t>Opção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9026" y="1938528"/>
            <a:ext cx="1324917" cy="9144"/>
          </a:xfrm>
          <a:prstGeom prst="rect">
            <a:avLst/>
          </a:prstGeom>
          <a:solidFill>
            <a:srgbClr val="D9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9664" y="1787652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0E112A"/>
                </a:solidFill>
                <a:latin typeface="Segoe UI"/>
              </a:rPr>
              <a:t>Others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45384" y="1938528"/>
            <a:ext cx="380679" cy="9144"/>
          </a:xfrm>
          <a:prstGeom prst="rect">
            <a:avLst/>
          </a:prstGeom>
          <a:solidFill>
            <a:srgbClr val="D9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1783" y="1787652"/>
            <a:ext cx="94423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0E112A"/>
                </a:solidFill>
                <a:latin typeface="Segoe UI"/>
              </a:rPr>
              <a:t>Swap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7503" y="1938528"/>
            <a:ext cx="852798" cy="9144"/>
          </a:xfrm>
          <a:prstGeom prst="rect">
            <a:avLst/>
          </a:prstGeom>
          <a:solidFill>
            <a:srgbClr val="D9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6021" y="1787652"/>
            <a:ext cx="1888476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0E112A"/>
                </a:solidFill>
                <a:latin typeface="Segoe UI"/>
              </a:rPr>
              <a:t>FXCash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1741" y="1938528"/>
            <a:ext cx="1797036" cy="9144"/>
          </a:xfrm>
          <a:prstGeom prst="rect">
            <a:avLst/>
          </a:prstGeom>
          <a:solidFill>
            <a:srgbClr val="D9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4498" y="1787652"/>
            <a:ext cx="1416357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0E112A"/>
                </a:solidFill>
                <a:latin typeface="Segoe UI"/>
              </a:rPr>
              <a:t>Opção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0218" y="1938528"/>
            <a:ext cx="1324917" cy="9144"/>
          </a:xfrm>
          <a:prstGeom prst="rect">
            <a:avLst/>
          </a:prstGeom>
          <a:solidFill>
            <a:srgbClr val="D9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0592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EDG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2711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CEM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4830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Vanilla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6949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FWD 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9068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Other Publisher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1187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Commodities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3306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EDG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55426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CEM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7545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Commodities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1783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EDG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3902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CEM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6021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NDF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8141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DFW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0260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FX Swap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32379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Commodities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4498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EDG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6617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CEM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48736" y="1979676"/>
            <a:ext cx="472119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0">
                <a:solidFill>
                  <a:srgbClr val="545A72"/>
                </a:solidFill>
                <a:latin typeface="Segoe UI"/>
              </a:rPr>
              <a:t>Commodities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" y="2304288"/>
            <a:ext cx="10671048" cy="260603"/>
          </a:xfrm>
          <a:prstGeom prst="roundRect">
            <a:avLst>
              <a:gd name="adj" fmla="val 17543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2345436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Registro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08927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81046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553165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025285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497404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969523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41642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913761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385880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802238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74357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746476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218595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690714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634953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1107072" y="2356866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2606040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Aviso Liquidação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608927" y="261747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081046" y="261747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553165" y="261747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025285" y="261747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497404" y="261747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969523" y="261747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441642" y="261747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913761" y="261747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385880" y="261747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49808" y="2825496"/>
            <a:ext cx="10671048" cy="260603"/>
          </a:xfrm>
          <a:prstGeom prst="roundRect">
            <a:avLst>
              <a:gd name="adj" fmla="val 17543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" y="2866644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Calculo Imposto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608927" y="287807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081046" y="287807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553165" y="287807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025285" y="287807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497404" y="287807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969523" y="287807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441642" y="287807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913761" y="287807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385880" y="287807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2960" y="3127248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Confirmação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608927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2608927" y="3138678"/>
            <a:ext cx="77724" cy="155448"/>
          </a:xfrm>
          <a:prstGeom prst="roundRect">
            <a:avLst>
              <a:gd name="adj" fmla="val 58823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081046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081046" y="3138678"/>
            <a:ext cx="77724" cy="155448"/>
          </a:xfrm>
          <a:prstGeom prst="roundRect">
            <a:avLst>
              <a:gd name="adj" fmla="val 58823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553165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025285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497404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4969523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441642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913761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385880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330119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802238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274357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746476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218595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690714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0162834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634953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1107072" y="313867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749808" y="3346704"/>
            <a:ext cx="10671048" cy="260603"/>
          </a:xfrm>
          <a:prstGeom prst="roundRect">
            <a:avLst>
              <a:gd name="adj" fmla="val 17543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960" y="3387852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Recompra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608927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3081046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3553165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4025285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497404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4969523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441642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913761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385880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7330119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802238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274357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8746476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9218595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9690714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0162834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0634953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11107072" y="339928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22960" y="3648456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Reconciliação Posicao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608927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3081046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3553165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4025285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4497404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4969523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5441642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5913761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6385880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802238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8274357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8746476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9218595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9690714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0634953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1107072" y="365988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749808" y="3867912"/>
            <a:ext cx="10671048" cy="260603"/>
          </a:xfrm>
          <a:prstGeom prst="roundRect">
            <a:avLst>
              <a:gd name="adj" fmla="val 17543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22960" y="3909060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Pagamentos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608927" y="392049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EF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3081046" y="392049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EF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553165" y="392049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4025285" y="392049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4497404" y="392049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4969523" y="392049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EF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5441642" y="392049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EF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5913761" y="392049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EF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6385880" y="3920490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EF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22960" y="4169663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Emissão de CGD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858000" y="418109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749808" y="4389120"/>
            <a:ext cx="10671048" cy="260603"/>
          </a:xfrm>
          <a:prstGeom prst="roundRect">
            <a:avLst>
              <a:gd name="adj" fmla="val 17543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22960" y="4430268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EA ou Aviso Premio D+0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608927" y="444169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3081046" y="444169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3553165" y="444169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4025285" y="444169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4497404" y="444169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4969523" y="444169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5441642" y="444169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5913761" y="444169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6385880" y="4441698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22960" y="4690872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Reconciliação Comitente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858000" y="4702302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749808" y="4910327"/>
            <a:ext cx="10671048" cy="260603"/>
          </a:xfrm>
          <a:prstGeom prst="roundRect">
            <a:avLst>
              <a:gd name="adj" fmla="val 17543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22960" y="4951475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Controle Pay/Rec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858000" y="4962905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22960" y="5212079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Inventário Eletronico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858000" y="5223509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749808" y="5431536"/>
            <a:ext cx="10671048" cy="260603"/>
          </a:xfrm>
          <a:prstGeom prst="roundRect">
            <a:avLst>
              <a:gd name="adj" fmla="val 17543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22960" y="5472683"/>
            <a:ext cx="1572768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12A"/>
                </a:solidFill>
                <a:latin typeface="Segoe UI"/>
              </a:rPr>
              <a:t>Intrag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2608927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3081046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3553165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4025285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4497404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4969523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5441642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5913761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6385880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7802238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8274357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8746476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9218595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9690714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10634953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11107072" y="5484114"/>
            <a:ext cx="155448" cy="155448"/>
          </a:xfrm>
          <a:prstGeom prst="roundRect">
            <a:avLst>
              <a:gd name="adj" fmla="val 29411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566928" y="5961888"/>
            <a:ext cx="137160" cy="137160"/>
          </a:xfrm>
          <a:prstGeom prst="roundRect">
            <a:avLst>
              <a:gd name="adj" fmla="val 3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68096" y="5957316"/>
            <a:ext cx="3108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45A72"/>
                </a:solidFill>
                <a:latin typeface="Segoe UI"/>
              </a:rPr>
              <a:t>Automated in OTC Tracker today (34)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026664" y="5961888"/>
            <a:ext cx="137160" cy="137160"/>
          </a:xfrm>
          <a:prstGeom prst="roundRect">
            <a:avLst>
              <a:gd name="adj" fmla="val 30000"/>
            </a:avLst>
          </a:prstGeom>
          <a:solidFill>
            <a:srgbClr val="B9C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227832" y="5957316"/>
            <a:ext cx="3108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45A72"/>
                </a:solidFill>
                <a:latin typeface="Segoe UI"/>
              </a:rPr>
              <a:t>Legacy tools — Cockpit / Inoa / AEVO (19)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848502" y="5961888"/>
            <a:ext cx="137160" cy="137160"/>
          </a:xfrm>
          <a:prstGeom prst="roundRect">
            <a:avLst>
              <a:gd name="adj" fmla="val 30000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049670" y="5957316"/>
            <a:ext cx="3108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45A72"/>
                </a:solidFill>
                <a:latin typeface="Segoe UI"/>
              </a:rPr>
              <a:t>OTC Tracker target (65)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7584033" y="5961888"/>
            <a:ext cx="137160" cy="137160"/>
          </a:xfrm>
          <a:prstGeom prst="roundRect">
            <a:avLst>
              <a:gd name="adj" fmla="val 30000"/>
            </a:avLst>
          </a:prstGeom>
          <a:solidFill>
            <a:srgbClr val="EF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785201" y="5957316"/>
            <a:ext cx="3108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45A72"/>
                </a:solidFill>
                <a:latin typeface="Segoe UI"/>
              </a:rPr>
              <a:t>Manual, outside the target (6)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9742017" y="5961888"/>
            <a:ext cx="137160" cy="137160"/>
          </a:xfrm>
          <a:prstGeom prst="roundRect">
            <a:avLst>
              <a:gd name="adj" fmla="val 30000"/>
            </a:avLst>
          </a:prstGeom>
          <a:solidFill>
            <a:srgbClr val="CBB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9742017" y="5961888"/>
            <a:ext cx="68580" cy="137160"/>
          </a:xfrm>
          <a:prstGeom prst="roundRect">
            <a:avLst>
              <a:gd name="adj" fmla="val 6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943185" y="5957316"/>
            <a:ext cx="3108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45A72"/>
                </a:solidFill>
                <a:latin typeface="Segoe UI"/>
              </a:rPr>
              <a:t>half = partial in target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66928" y="6565392"/>
            <a:ext cx="11055096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299"/>
                </a:solidFill>
                <a:latin typeface="Segoe UI"/>
              </a:rPr>
              <a:t>Internal use — Brazil OTC Operations, J.P. Morgan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