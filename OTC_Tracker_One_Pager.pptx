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gradFill rotWithShape="1">
            <a:gsLst>
              <a:gs pos="0">
                <a:srgbClr val="0066CC"/>
              </a:gs>
              <a:gs pos="500">
                <a:srgbClr val="5E5CE6"/>
              </a:gs>
              <a:gs pos="800">
                <a:srgbClr val="8B5CF6"/>
              </a:gs>
              <a:gs pos="1000">
                <a:srgbClr val="D946EF"/>
              </a:gs>
            </a:gsLst>
            <a:lin ang="60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9456"/>
            <a:ext cx="7863840" cy="8686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OTC Tracker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>
                <a:solidFill>
                  <a:srgbClr val="E4ECFF"/>
                </a:solidFill>
                <a:latin typeface="Segoe UI"/>
              </a:rPr>
              <a:t>One platform for the full OTC derivatives lifecycle — Brazil OTC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512064"/>
            <a:ext cx="498348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EBF1FF"/>
                </a:solidFill>
                <a:latin typeface="Segoe UI"/>
              </a:rPr>
              <a:t>Trade capture  ›  B3 / CETIP registration  ›  Client confirmation  ›  Settlement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2724912" cy="3200400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737360"/>
            <a:ext cx="475488" cy="68580"/>
          </a:xfrm>
          <a:prstGeom prst="roundRect">
            <a:avLst>
              <a:gd name="adj" fmla="val 49333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0240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One solution, end to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95728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Registration, confirmation, settlement and regulatory reporting live in the same place — every user reads and writes the same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32689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1866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100+ screens covering NDF, FX and commodity options, swaps, unwinds and intragroup legs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" y="37261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6438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The step that follows always knows what the previous one did — no re-keying between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41833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1010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No side spreadsheet as the source of truth — nothing left to reconcile between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1481328"/>
            <a:ext cx="2724912" cy="3200400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12463" y="1737360"/>
            <a:ext cx="475488" cy="68580"/>
          </a:xfrm>
          <a:prstGeom prst="roundRect">
            <a:avLst>
              <a:gd name="adj" fmla="val 49333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2463" y="1920240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The routine runs itself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3" y="2395728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What used to be typed, copied or remembered is now imported, generated or scheduled — people are left with the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30752" y="32689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7056" y="31866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Trades pulled from Athena automatically — NDF every 20 minutes, FX options hourly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30752" y="37261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77056" y="36438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Client confirmations, settlement advices and B3 / CETIP files produced by the solution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41833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77056" y="41010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Daily routines e-mail each user exactly what is still open, without anyone asking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1481328"/>
            <a:ext cx="2724912" cy="3200400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56831" y="1737360"/>
            <a:ext cx="475488" cy="68580"/>
          </a:xfrm>
          <a:prstGeom prst="roundRect">
            <a:avLst>
              <a:gd name="adj" fmla="val 49333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1" y="1920240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Controls built into the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1" y="2395728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The check is part of the screen, not a separate review — so nothing depends on someone remembering to do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32689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31866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Confirmation trail OTC › MO / FO, with each stage signed only by its own users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75120" y="37261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36438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Deadlines in business days; signing off late requires a written justification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41833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1424" y="41010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Every action stamped with date, time and employee ID, plus maker / checker on the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00032" y="1481328"/>
            <a:ext cx="2724912" cy="3200400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01200" y="1737360"/>
            <a:ext cx="475488" cy="68580"/>
          </a:xfrm>
          <a:prstGeom prst="roundRect">
            <a:avLst>
              <a:gd name="adj" fmla="val 49333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1920240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Changes without a release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2395728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The rules the users own are edited on screen and take effect on the next click — no code change, no deployment window.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19488" y="32689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92" y="31866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25 on-screen registries hold the mappings that used to be hard-coded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19488" y="37261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65792" y="36438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Access granted page by page — and routine by routine inside the Control Panel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9488" y="4183380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65792" y="4101084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One code base serving users in English, Portuguese and Spanish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791456"/>
            <a:ext cx="11055096" cy="566928"/>
          </a:xfrm>
          <a:prstGeom prst="roundRect">
            <a:avLst>
              <a:gd name="adj" fmla="val 27419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4901184"/>
            <a:ext cx="146304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E112A"/>
                </a:solidFill>
                <a:latin typeface="Segoe UI"/>
              </a:rPr>
              <a:t>PROCESS COVERAGE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800" b="0">
                <a:solidFill>
                  <a:srgbClr val="545A72"/>
                </a:solidFill>
                <a:latin typeface="Segoe UI"/>
              </a:rPr>
              <a:t>OTC Derivatives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50008" y="4882896"/>
            <a:ext cx="202082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E112A"/>
                </a:solidFill>
                <a:latin typeface="Segoe UI"/>
              </a:rPr>
              <a:t>OTC Tracker — Full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50008" y="5143500"/>
            <a:ext cx="1536192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50008" y="5143500"/>
            <a:ext cx="954589" cy="77724"/>
          </a:xfrm>
          <a:prstGeom prst="roundRect">
            <a:avLst>
              <a:gd name="adj" fmla="val 49411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59352" y="5079492"/>
            <a:ext cx="566928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066CC"/>
                </a:solidFill>
                <a:latin typeface="Segoe UI"/>
              </a:rPr>
              <a:t>62.14%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99431" y="4882896"/>
            <a:ext cx="202082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E112A"/>
                </a:solidFill>
                <a:latin typeface="Segoe UI"/>
              </a:rPr>
              <a:t>OTC Tracker — Today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99431" y="5143500"/>
            <a:ext cx="1536192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599431" y="5143500"/>
            <a:ext cx="507096" cy="77724"/>
          </a:xfrm>
          <a:prstGeom prst="roundRect">
            <a:avLst>
              <a:gd name="adj" fmla="val 49411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08775" y="5079492"/>
            <a:ext cx="566928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E5CE6"/>
                </a:solidFill>
                <a:latin typeface="Segoe UI"/>
              </a:rPr>
              <a:t>33.01%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48856" y="4882896"/>
            <a:ext cx="202082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E112A"/>
                </a:solidFill>
                <a:latin typeface="Segoe UI"/>
              </a:rPr>
              <a:t>Cockpit + AEVO + Registration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48856" y="5143500"/>
            <a:ext cx="1536192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848856" y="5143500"/>
            <a:ext cx="223669" cy="77724"/>
          </a:xfrm>
          <a:prstGeom prst="roundRect">
            <a:avLst>
              <a:gd name="adj" fmla="val 49411"/>
            </a:avLst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58200" y="5079492"/>
            <a:ext cx="566928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AA3B8"/>
                </a:solidFill>
                <a:latin typeface="Segoe UI"/>
              </a:rPr>
              <a:t>14.56%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4882896"/>
            <a:ext cx="202082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E112A"/>
                </a:solidFill>
                <a:latin typeface="Segoe UI"/>
              </a:rPr>
              <a:t>Cockpit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98280" y="5143500"/>
            <a:ext cx="1536192" cy="77724"/>
          </a:xfrm>
          <a:prstGeom prst="roundRect">
            <a:avLst>
              <a:gd name="adj" fmla="val 49411"/>
            </a:avLst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098280" y="5143500"/>
            <a:ext cx="149164" cy="77724"/>
          </a:xfrm>
          <a:prstGeom prst="roundRect">
            <a:avLst>
              <a:gd name="adj" fmla="val 49411"/>
            </a:avLst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07624" y="5079492"/>
            <a:ext cx="566928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AA3B8"/>
                </a:solidFill>
                <a:latin typeface="Segoe UI"/>
              </a:rPr>
              <a:t>9.71%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5504688"/>
            <a:ext cx="11055096" cy="969264"/>
          </a:xfrm>
          <a:prstGeom prst="roundRect">
            <a:avLst>
              <a:gd name="adj" fmla="val 16037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7" y="5705855"/>
            <a:ext cx="2260854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066CC"/>
                </a:solidFill>
                <a:latin typeface="Segoe UI"/>
              </a:rPr>
              <a:t>CONNECTED 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7" y="5980175"/>
            <a:ext cx="2260854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Athena  ·  B3 / CETIP  ·  Reference Data  ·  Electronic Inventory  ·  SSO + 2FA  ·  E-mail and push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330702" y="5705855"/>
            <a:ext cx="7315" cy="566928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05022" y="5705855"/>
            <a:ext cx="2260854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E5CE6"/>
                </a:solidFill>
                <a:latin typeface="Segoe UI"/>
              </a:rPr>
              <a:t>RECONCILES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05022" y="5980175"/>
            <a:ext cx="2260854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FX options: CETIP × Athena end-of-day  ·  Pay / Rec  ·  Comitente  ·  B3 return files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4476" y="5705855"/>
            <a:ext cx="7315" cy="566928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68796" y="5705855"/>
            <a:ext cx="2260854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B5CF6"/>
                </a:solidFill>
                <a:latin typeface="Segoe UI"/>
              </a:rPr>
              <a:t>KEEPS IN SIGHT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68796" y="5980175"/>
            <a:ext cx="2260854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New Deals and Confirmations Monitors  ·  KPI and daily metrics  ·  Alerts when something is late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58249" y="5705855"/>
            <a:ext cx="7315" cy="566928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32569" y="5705855"/>
            <a:ext cx="2260854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946EF"/>
                </a:solidFill>
                <a:latin typeface="Segoe UI"/>
              </a:rPr>
              <a:t>BENEFITS DELIVERED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32569" y="5980175"/>
            <a:ext cx="2260854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Several Intelligent Solutions consolidated in one place  ·  0.5 FTE reduction already delivered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6565392"/>
            <a:ext cx="11055096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B8299"/>
                </a:solidFill>
                <a:latin typeface="Segoe UI"/>
              </a:rPr>
              <a:t>Internal use — Brazil OTC Operations, J.P. Morgan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