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gradFill rotWithShape="1">
            <a:gsLst>
              <a:gs pos="0">
                <a:srgbClr val="0066CC"/>
              </a:gs>
              <a:gs pos="500">
                <a:srgbClr val="5E5CE6"/>
              </a:gs>
              <a:gs pos="800">
                <a:srgbClr val="8B5CF6"/>
              </a:gs>
              <a:gs pos="1000">
                <a:srgbClr val="D946EF"/>
              </a:gs>
            </a:gsLst>
            <a:lin ang="60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9456"/>
            <a:ext cx="7863840" cy="8686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OTC Tracker</a:t>
            </a:r>
          </a:p>
          <a:p>
            <a:pPr algn="l">
              <a:lnSpc>
                <a:spcPct val="100000"/>
              </a:lnSpc>
              <a:spcBef>
                <a:spcPts val="300"/>
              </a:spcBef>
            </a:pPr>
            <a:r>
              <a:rPr sz="1400" b="0">
                <a:solidFill>
                  <a:srgbClr val="E4ECFF"/>
                </a:solidFill>
                <a:latin typeface="Segoe UI"/>
              </a:rPr>
              <a:t>One platform for the full OTC derivatives lifecycle — Brazil OTC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29400" y="512064"/>
            <a:ext cx="498348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1">
                <a:solidFill>
                  <a:srgbClr val="EBF1FF"/>
                </a:solidFill>
                <a:latin typeface="Segoe UI"/>
              </a:rPr>
              <a:t>Trade capture  ›  B3 / CETIP registration  ›  Client confirmation  ›  Settlement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724912" cy="3310128"/>
          </a:xfrm>
          <a:prstGeom prst="roundRect">
            <a:avLst>
              <a:gd name="adj" fmla="val 570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68096" y="1883664"/>
            <a:ext cx="475488" cy="68580"/>
          </a:xfrm>
          <a:prstGeom prst="roundRect">
            <a:avLst>
              <a:gd name="adj" fmla="val 49333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2322576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0E112A"/>
                </a:solidFill>
                <a:latin typeface="Segoe UI"/>
              </a:rPr>
              <a:t>One system, end to 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542032"/>
            <a:ext cx="2322576" cy="777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545A72"/>
                </a:solidFill>
                <a:latin typeface="Segoe UI"/>
              </a:rPr>
              <a:t>Registration, confirmation, settlement and regulatory reporting live in the same place — every desk reads and writes the same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3415284"/>
            <a:ext cx="56692" cy="56692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332988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100+ screens covering NDF, FX and commodity options, swaps, unwinds and intragroup legs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" y="3872484"/>
            <a:ext cx="56692" cy="56692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790188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The step that follows always knows what the previous one did — no re-keying between tools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" y="4329684"/>
            <a:ext cx="56692" cy="56692"/>
          </a:xfrm>
          <a:prstGeom prst="roundRect">
            <a:avLst>
              <a:gd name="adj" fmla="val 50000"/>
            </a:avLst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247388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No side spreadsheet as the source of truth — nothing left to reconcile between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11296" y="1627632"/>
            <a:ext cx="2724912" cy="3310128"/>
          </a:xfrm>
          <a:prstGeom prst="roundRect">
            <a:avLst>
              <a:gd name="adj" fmla="val 570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712463" y="1883664"/>
            <a:ext cx="475488" cy="68580"/>
          </a:xfrm>
          <a:prstGeom prst="roundRect">
            <a:avLst>
              <a:gd name="adj" fmla="val 49333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12463" y="2066543"/>
            <a:ext cx="2322576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0E112A"/>
                </a:solidFill>
                <a:latin typeface="Segoe UI"/>
              </a:rPr>
              <a:t>The routine runs itself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2463" y="2542032"/>
            <a:ext cx="2322576" cy="777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545A72"/>
                </a:solidFill>
                <a:latin typeface="Segoe UI"/>
              </a:rPr>
              <a:t>What used to be typed, copied or remembered is now imported, generated or scheduled — people are left with the decisions.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30752" y="3415284"/>
            <a:ext cx="56692" cy="56692"/>
          </a:xfrm>
          <a:prstGeom prst="roundRect">
            <a:avLst>
              <a:gd name="adj" fmla="val 50000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77056" y="3332988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Trades pulled from Athena automatically — NDF every 20 minutes, FX options hourly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30752" y="3872484"/>
            <a:ext cx="56692" cy="56692"/>
          </a:xfrm>
          <a:prstGeom prst="roundRect">
            <a:avLst>
              <a:gd name="adj" fmla="val 50000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77056" y="3790188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Client confirmations, settlement advices and B3 / CETIP files produced by the 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30752" y="4329684"/>
            <a:ext cx="56692" cy="56692"/>
          </a:xfrm>
          <a:prstGeom prst="roundRect">
            <a:avLst>
              <a:gd name="adj" fmla="val 50000"/>
            </a:avLst>
          </a:prstGeom>
          <a:solidFill>
            <a:srgbClr val="5E5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77056" y="4247388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Daily routines e-mail each desk exactly what is still open, without anyone asking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55664" y="1627632"/>
            <a:ext cx="2724912" cy="3310128"/>
          </a:xfrm>
          <a:prstGeom prst="roundRect">
            <a:avLst>
              <a:gd name="adj" fmla="val 570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656831" y="1883664"/>
            <a:ext cx="475488" cy="68580"/>
          </a:xfrm>
          <a:prstGeom prst="roundRect">
            <a:avLst>
              <a:gd name="adj" fmla="val 49333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1" y="2066543"/>
            <a:ext cx="2322576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0E112A"/>
                </a:solidFill>
                <a:latin typeface="Segoe UI"/>
              </a:rPr>
              <a:t>Controls built into the flow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1" y="2542032"/>
            <a:ext cx="2322576" cy="777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545A72"/>
                </a:solidFill>
                <a:latin typeface="Segoe UI"/>
              </a:rPr>
              <a:t>The check is part of the screen, not a separate review — so nothing depends on someone remembering to do 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0" y="3415284"/>
            <a:ext cx="56692" cy="5669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3332988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Confirmation trail OTC › MO / FO, with each stage signed only by its own desk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75120" y="3872484"/>
            <a:ext cx="56692" cy="5669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1424" y="3790188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Deadlines in business days; signing off late requires a written justification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4329684"/>
            <a:ext cx="56692" cy="5669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21424" y="4247388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Every action stamped with date, time and employee ID, plus maker / checker on the 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00032" y="1627632"/>
            <a:ext cx="2724912" cy="3310128"/>
          </a:xfrm>
          <a:prstGeom prst="roundRect">
            <a:avLst>
              <a:gd name="adj" fmla="val 5704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01200" y="1883664"/>
            <a:ext cx="475488" cy="68580"/>
          </a:xfrm>
          <a:prstGeom prst="roundRect">
            <a:avLst>
              <a:gd name="adj" fmla="val 49333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0" y="2066543"/>
            <a:ext cx="2322576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0E112A"/>
                </a:solidFill>
                <a:latin typeface="Segoe UI"/>
              </a:rPr>
              <a:t>Changes without a release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2542032"/>
            <a:ext cx="2322576" cy="7772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>
                <a:solidFill>
                  <a:srgbClr val="545A72"/>
                </a:solidFill>
                <a:latin typeface="Segoe UI"/>
              </a:rPr>
              <a:t>The rules the desk owns are edited on screen and take effect on the next click — no code change, no deployment window.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619488" y="3415284"/>
            <a:ext cx="56692" cy="56692"/>
          </a:xfrm>
          <a:prstGeom prst="roundRect">
            <a:avLst>
              <a:gd name="adj" fmla="val 50000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65792" y="3332988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25 on-screen registries hold the mappings that used to be hard-coded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19488" y="3872484"/>
            <a:ext cx="56692" cy="56692"/>
          </a:xfrm>
          <a:prstGeom prst="roundRect">
            <a:avLst>
              <a:gd name="adj" fmla="val 50000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65792" y="3790188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Access granted page by page — and routine by routine inside the Control Panel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19488" y="4329684"/>
            <a:ext cx="56692" cy="56692"/>
          </a:xfrm>
          <a:prstGeom prst="roundRect">
            <a:avLst>
              <a:gd name="adj" fmla="val 50000"/>
            </a:avLst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65792" y="4247388"/>
            <a:ext cx="2157984" cy="65836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0E112A"/>
                </a:solidFill>
                <a:latin typeface="Segoe UI"/>
              </a:rPr>
              <a:t>One code base serving the desk in English, Portuguese and Spanish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193792"/>
            <a:ext cx="11055096" cy="1060704"/>
          </a:xfrm>
          <a:prstGeom prst="roundRect">
            <a:avLst>
              <a:gd name="adj" fmla="val 14655"/>
            </a:avLst>
          </a:prstGeom>
          <a:solidFill>
            <a:srgbClr val="FFFFFF"/>
          </a:solidFill>
          <a:ln w="9525">
            <a:solidFill>
              <a:srgbClr val="E3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7" y="5394959"/>
            <a:ext cx="318211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066CC"/>
                </a:solidFill>
                <a:latin typeface="Segoe UI"/>
              </a:rPr>
              <a:t>CONNECTED 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7" y="5669279"/>
            <a:ext cx="3182112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45A72"/>
                </a:solidFill>
                <a:latin typeface="Segoe UI"/>
              </a:rPr>
              <a:t>Athena  ·  B3 / CETIP  ·  Reference Data  ·  Electronic Inventory  ·  Corporate directory (SSO + 2FA)  ·  E-mail and push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51960" y="5394959"/>
            <a:ext cx="7315" cy="658368"/>
          </a:xfrm>
          <a:prstGeom prst="rect">
            <a:avLst/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26280" y="5394959"/>
            <a:ext cx="318211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E5CE6"/>
                </a:solidFill>
                <a:latin typeface="Segoe UI"/>
              </a:rPr>
              <a:t>RECONCILES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26280" y="5669279"/>
            <a:ext cx="3182112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45A72"/>
                </a:solidFill>
                <a:latin typeface="Segoe UI"/>
              </a:rPr>
              <a:t>FX options: CETIP × Athena end-of-day  ·  Pay / Rec  ·  Comitente  ·  B3 return files, matched back to the trade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36992" y="5394959"/>
            <a:ext cx="7315" cy="658368"/>
          </a:xfrm>
          <a:prstGeom prst="rect">
            <a:avLst/>
          </a:prstGeom>
          <a:solidFill>
            <a:srgbClr val="EC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11312" y="5394959"/>
            <a:ext cx="318211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8B5CF6"/>
                </a:solidFill>
                <a:latin typeface="Segoe UI"/>
              </a:rPr>
              <a:t>KEEPS IN SIGHT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1312" y="5669279"/>
            <a:ext cx="3182112" cy="566928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>
                <a:solidFill>
                  <a:srgbClr val="545A72"/>
                </a:solidFill>
                <a:latin typeface="Segoe UI"/>
              </a:rPr>
              <a:t>New Deals Monitor  ·  Confirmations Monitor  ·  KPI and daily metrics  ·  Alerts when something is missing or late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19088"/>
            <a:ext cx="11055096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B8299"/>
                </a:solidFill>
                <a:latin typeface="Segoe UI"/>
              </a:rPr>
              <a:t>Internal use — Brazil OTC Operations, J.P. Morgan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